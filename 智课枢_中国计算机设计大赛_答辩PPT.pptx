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6" r:id="rId21"/>
    <p:sldId id="277" r:id="rId22"/>
  </p:sldIdLst>
  <p:sldSz cx="12191365" cy="6858000" type="screen4x3"/>
  <p:notesSz cx="6858000" cy="9144000"/>
  <p:defaultTextStyle>
    <a:defPPr>
      <a:defRPr lang="en-US"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2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08"/>
        <p:guide pos="279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subtitle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457200" indent="0">
              <a:buNone/>
              <a:defRPr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914400" indent="0">
              <a:buNone/>
              <a:defRPr sz="1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3716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18288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457200" indent="0">
              <a:buNone/>
              <a:defRPr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914400" indent="0">
              <a:buNone/>
              <a:defRPr sz="1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3716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18288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indent="0">
              <a:buNone/>
              <a:defRPr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>
              <a:def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>
              <a:def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def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457200" indent="0"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914400" indent="0">
              <a:buNone/>
              <a:defRPr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3716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18288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457200" indent="0">
              <a:buNone/>
              <a:def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914400" indent="0"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371600" indent="0">
              <a:buNone/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1828800" indent="0">
              <a:buNone/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indent="0">
              <a:buNone/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indent="0">
              <a:buNone/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indent="0">
              <a:buNone/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indent="0">
              <a:buNone/>
              <a:def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457200" indent="0"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914400" indent="0">
              <a:buNone/>
              <a:defRPr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3716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18288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indent="0">
              <a:buNone/>
              <a:defRPr sz="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title style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Click to edit Master text styles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Second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Third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Fourth level</a:t>
            </a:r>
            <a:endParaRPr lang="en-US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4"/>
            <a:r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Fifth level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5BCAD085-E8A6-8845-BD4E-CB4CCA059FC4}" type="datetimeFigureOut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C1FF6DA9-008F-8B48-92A6-B652298478BF}" type="slidenum">
              <a:rPr lang="en-US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9pPr>
    </p:bodyStyle>
    <p:otherStyle>
      <a:defPPr>
        <a:defRPr lang="en-US"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5.png"/><Relationship Id="rId27" Type="http://schemas.openxmlformats.org/officeDocument/2006/relationships/image" Target="../media/image4.png"/><Relationship Id="rId26" Type="http://schemas.openxmlformats.org/officeDocument/2006/relationships/image" Target="../media/image3.png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52360" cy="6858000"/>
          </a:xfrm>
          <a:prstGeom prst="rect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91642"/>
            <a:ext cx="27432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800" b="1">
                <a:solidFill>
                  <a:srgbClr val="72C9D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中国计算机设计大赛答辩</a:t>
            </a:r>
            <a:endParaRPr sz="1800" b="1">
              <a:solidFill>
                <a:srgbClr val="72C9D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495" y="1836420"/>
            <a:ext cx="6269355" cy="129857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基于实时语音识别与检索增强生成的</a:t>
            </a:r>
            <a:endParaRPr sz="3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30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课堂学习助手系统设计与实现</a:t>
            </a:r>
            <a:endParaRPr sz="3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3072384"/>
            <a:ext cx="59436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50" b="0">
                <a:solidFill>
                  <a:srgbClr val="E2EAF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项目名称：智课枢</a:t>
            </a:r>
            <a:endParaRPr sz="1450" b="0">
              <a:solidFill>
                <a:srgbClr val="E2EAF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1450" b="0">
                <a:solidFill>
                  <a:srgbClr val="E2EAF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定位：实时语音转写 + 多模态资料解析 + RAG（检索增强生成） 问答 + 历史回顾 + 课后学习生成</a:t>
            </a:r>
            <a:endParaRPr sz="1450" b="0">
              <a:solidFill>
                <a:srgbClr val="E2EAF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1315" y="5538470"/>
            <a:ext cx="1203960" cy="29273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2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实时语音识别</a:t>
            </a:r>
            <a:endParaRPr sz="12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12925" y="5538470"/>
            <a:ext cx="779145" cy="29337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2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RAG问答</a:t>
            </a:r>
            <a:endParaRPr sz="12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39847" y="5544439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2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课堂知识库</a:t>
            </a:r>
            <a:endParaRPr sz="12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1625" y="5539105"/>
            <a:ext cx="769620" cy="29273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2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课后笔记</a:t>
            </a:r>
            <a:endParaRPr sz="12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47310" y="5541010"/>
            <a:ext cx="900430" cy="29083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lang="zh-CN" altLang="en-US" sz="12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</a:t>
            </a:r>
            <a:r>
              <a:rPr lang="zh-CN" altLang="en-US" sz="12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</a:t>
            </a:r>
            <a:endParaRPr lang="zh-CN" altLang="en-US" sz="12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99248" y="566928"/>
            <a:ext cx="3657600" cy="5650992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877824"/>
            <a:ext cx="22860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2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答辩信息</a:t>
            </a:r>
            <a:endParaRPr sz="22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10144" y="1316736"/>
            <a:ext cx="1097280" cy="274320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汇报人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35440" y="1289304"/>
            <a:ext cx="164592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200" b="1">
                <a:solidFill>
                  <a:srgbClr val="1C2E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贾定儒</a:t>
            </a:r>
            <a:endParaRPr sz="2200" b="1">
              <a:solidFill>
                <a:srgbClr val="1C2E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0144" y="1700784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指导教师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18320" y="1673352"/>
            <a:ext cx="164592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200" b="1">
                <a:solidFill>
                  <a:srgbClr val="1C2E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张勉</a:t>
            </a:r>
            <a:endParaRPr sz="2200" b="1">
              <a:solidFill>
                <a:srgbClr val="1C2E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10144" y="2084831"/>
            <a:ext cx="1417320" cy="274320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小组成员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83296" y="2542032"/>
            <a:ext cx="28346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贾定儒  马世红</a:t>
            </a:r>
            <a:endParaRPr sz="17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17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洪勇勤  李佳洋</a:t>
            </a:r>
            <a:endParaRPr sz="17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17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张希远  张好</a:t>
            </a:r>
            <a:endParaRPr sz="17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17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吴巧  张鼎宸</a:t>
            </a:r>
            <a:endParaRPr sz="17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17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毛堂皓</a:t>
            </a:r>
            <a:endParaRPr sz="17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01583" y="4992624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</a:t>
            </a:r>
            <a:endParaRPr sz="12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28431" y="523036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本地化优先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336024" y="523036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多模态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28431" y="5577840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前后端分离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336024" y="5577840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可检索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汇报目录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1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研究背景、需求分析、系统设计、实现与测试、总结展望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868680" y="150876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069848" y="1764792"/>
            <a:ext cx="347472" cy="34747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069848" y="1792224"/>
            <a:ext cx="347472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527048" y="1709928"/>
            <a:ext cx="1536192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研究背景与意义</a:t>
            </a:r>
            <a:endParaRPr sz="14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069848" y="2203704"/>
            <a:ext cx="1965960" cy="3840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课堂认知负担与资料沉淀问题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3950208" y="150876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4151376" y="1764792"/>
            <a:ext cx="347472" cy="34747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4151376" y="1792224"/>
            <a:ext cx="347472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608576" y="1709928"/>
            <a:ext cx="1536192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需求分析与总体目标</a:t>
            </a:r>
            <a:endParaRPr sz="14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151376" y="2203704"/>
            <a:ext cx="1965960" cy="3840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围绕课堂全过程定义系统目标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7031736" y="150876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7232904" y="1764792"/>
            <a:ext cx="347472" cy="34747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7232904" y="1792224"/>
            <a:ext cx="347472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7690104" y="1709928"/>
            <a:ext cx="1536192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系统总体设计</a:t>
            </a:r>
            <a:endParaRPr sz="14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7232904" y="2203704"/>
            <a:ext cx="1965960" cy="3840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架构层次、模型与数据组织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868680" y="3675887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>
            <p:custDataLst>
              <p:tags r:id="rId17"/>
            </p:custDataLst>
          </p:nvPr>
        </p:nvSpPr>
        <p:spPr>
          <a:xfrm>
            <a:off x="1069848" y="3931920"/>
            <a:ext cx="347472" cy="34747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069848" y="3959351"/>
            <a:ext cx="347472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1527048" y="3877055"/>
            <a:ext cx="1536192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核心模块设计与实现</a:t>
            </a:r>
            <a:endParaRPr sz="14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936625" y="4425950"/>
            <a:ext cx="2409190" cy="21209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100">
                <a:latin typeface="宋体" panose="02010600030101010101" pitchFamily="2" charset="-122"/>
              </a:rPr>
              <a:t>ASR（语音识别）/ RAG（检索增强）/ 多模态 / Copilot（智能助手）</a:t>
            </a:r>
            <a:endParaRPr sz="3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>
            <p:custDataLst>
              <p:tags r:id="rId21"/>
            </p:custDataLst>
          </p:nvPr>
        </p:nvSpPr>
        <p:spPr>
          <a:xfrm>
            <a:off x="3950208" y="3675887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>
            <p:custDataLst>
              <p:tags r:id="rId22"/>
            </p:custDataLst>
          </p:nvPr>
        </p:nvSpPr>
        <p:spPr>
          <a:xfrm>
            <a:off x="4151376" y="3931920"/>
            <a:ext cx="347472" cy="34747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>
            <p:custDataLst>
              <p:tags r:id="rId23"/>
            </p:custDataLst>
          </p:nvPr>
        </p:nvSpPr>
        <p:spPr>
          <a:xfrm>
            <a:off x="4151376" y="3959351"/>
            <a:ext cx="347472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4"/>
            </p:custDataLst>
          </p:nvPr>
        </p:nvSpPr>
        <p:spPr>
          <a:xfrm>
            <a:off x="4608576" y="3877055"/>
            <a:ext cx="1536192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系统测试与运行效果</a:t>
            </a:r>
            <a:endParaRPr sz="14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5"/>
            </p:custDataLst>
          </p:nvPr>
        </p:nvSpPr>
        <p:spPr>
          <a:xfrm>
            <a:off x="4151376" y="4370831"/>
            <a:ext cx="1965960" cy="3840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测试组织、页面效果与演示路径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Rounded Rectangle 31"/>
          <p:cNvSpPr/>
          <p:nvPr>
            <p:custDataLst>
              <p:tags r:id="rId26"/>
            </p:custDataLst>
          </p:nvPr>
        </p:nvSpPr>
        <p:spPr>
          <a:xfrm>
            <a:off x="7031736" y="3675887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>
            <p:custDataLst>
              <p:tags r:id="rId27"/>
            </p:custDataLst>
          </p:nvPr>
        </p:nvSpPr>
        <p:spPr>
          <a:xfrm>
            <a:off x="7232904" y="3931920"/>
            <a:ext cx="347472" cy="34747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>
            <p:custDataLst>
              <p:tags r:id="rId28"/>
            </p:custDataLst>
          </p:nvPr>
        </p:nvSpPr>
        <p:spPr>
          <a:xfrm>
            <a:off x="7232904" y="3959351"/>
            <a:ext cx="347472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TextBox 34"/>
          <p:cNvSpPr txBox="1"/>
          <p:nvPr>
            <p:custDataLst>
              <p:tags r:id="rId29"/>
            </p:custDataLst>
          </p:nvPr>
        </p:nvSpPr>
        <p:spPr>
          <a:xfrm>
            <a:off x="7690104" y="3877055"/>
            <a:ext cx="1536192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总结与展望</a:t>
            </a:r>
            <a:endParaRPr sz="14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TextBox 35"/>
          <p:cNvSpPr txBox="1"/>
          <p:nvPr>
            <p:custDataLst>
              <p:tags r:id="rId30"/>
            </p:custDataLst>
          </p:nvPr>
        </p:nvSpPr>
        <p:spPr>
          <a:xfrm>
            <a:off x="7232904" y="4370831"/>
            <a:ext cx="1965960" cy="3840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项目特色、不足与未来改进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研究背景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1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课堂学习往往需要同步完成理解、记录、追问与整理，认知负担较高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Picture 6" descr="classroom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055" y="1503045"/>
            <a:ext cx="3374390" cy="22275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1371600"/>
            <a:ext cx="6903720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72768"/>
            <a:ext cx="137160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问题链路</a:t>
            </a:r>
            <a:endParaRPr sz="1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370832" y="1810512"/>
            <a:ext cx="310896" cy="310896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837943"/>
            <a:ext cx="310896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12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91456" y="1801368"/>
            <a:ext cx="562356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500" b="1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课堂过程复杂，需要兼顾听课与记录</a:t>
            </a:r>
            <a:endParaRPr sz="1500" b="1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370832" y="2615184"/>
            <a:ext cx="310896" cy="310896"/>
          </a:xfrm>
          <a:prstGeom prst="ellipse">
            <a:avLst/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2642615"/>
            <a:ext cx="310896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12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1456" y="2606040"/>
            <a:ext cx="562356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5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语音、视频、课件资料分散保存</a:t>
            </a:r>
            <a:endParaRPr sz="15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370832" y="3419856"/>
            <a:ext cx="310896" cy="310896"/>
          </a:xfrm>
          <a:prstGeom prst="ellipse">
            <a:avLst/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3447288"/>
            <a:ext cx="310896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12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91456" y="3410712"/>
            <a:ext cx="562356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5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缺少统一、可检索的课堂知识组织方式</a:t>
            </a:r>
            <a:endParaRPr sz="15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370832" y="4224528"/>
            <a:ext cx="310896" cy="310896"/>
          </a:xfrm>
          <a:prstGeom prst="ellipse">
            <a:avLst/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4251960"/>
            <a:ext cx="310896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12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91456" y="4215384"/>
            <a:ext cx="562356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5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课后难以围绕历史课堂追问、复习与回看</a:t>
            </a:r>
            <a:endParaRPr sz="15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43400" y="4974336"/>
            <a:ext cx="6217920" cy="47548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350" b="0">
                <a:solidFill>
                  <a:srgbClr val="1C2E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本系统希望解决课堂内容难沉淀、课后复习效率低、学习资料分散、历史知识难追溯等问题。</a:t>
            </a:r>
            <a:endParaRPr sz="1350" b="0">
              <a:solidFill>
                <a:srgbClr val="1C2E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课堂学习中的主要问题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1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从课堂信息密度、数据组织、复习效率与上下文问答四个方面分析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4663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581912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痛点一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21031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课堂信息密度高</a:t>
            </a:r>
            <a:endParaRPr sz="17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4160520" cy="51206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学生难以同时完成听课、理解和记录，关键知识点容易遗漏。</a:t>
            </a:r>
            <a:endParaRPr sz="12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89320" y="1417320"/>
            <a:ext cx="4663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81912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痛点二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53912" y="1874519"/>
            <a:ext cx="21031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课堂数据分散</a:t>
            </a:r>
            <a:endParaRPr sz="17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3912" y="2185416"/>
            <a:ext cx="4160520" cy="51206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语音、课件、视频、板书、图片资料分散保存，缺少统一组织方式。</a:t>
            </a:r>
            <a:endParaRPr sz="12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4663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867911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痛点三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6112" y="4160520"/>
            <a:ext cx="21031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课后复习效率低</a:t>
            </a:r>
            <a:endParaRPr sz="17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471416"/>
            <a:ext cx="4160520" cy="51206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传统录音回放耗时长，课后笔记和测验依赖人工整理。</a:t>
            </a:r>
            <a:endParaRPr sz="12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89320" y="3703320"/>
            <a:ext cx="466344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867911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痛点四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53912" y="4160520"/>
            <a:ext cx="21031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缺少上下文问答能力</a:t>
            </a:r>
            <a:endParaRPr sz="17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53912" y="4471416"/>
            <a:ext cx="4160520" cy="51206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学生课后追问时难以快速定位课堂内容，普通聊天机器人不了解本节课上下文。</a:t>
            </a:r>
            <a:endParaRPr sz="12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系统设计目标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1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围绕课堂学习全过程，形成“记录—沉淀—问答—复习”的闭环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4892040" y="2194560"/>
            <a:ext cx="1508760" cy="1508760"/>
          </a:xfrm>
          <a:prstGeom prst="ellipse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3000" y="2493000"/>
            <a:ext cx="1387000" cy="61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</a:rPr>
              <a:t>Study</a:t>
            </a:r>
            <a:endParaRPr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</a:rPr>
              <a:t>Agent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</a:rPr>
              <a:t>课堂智能体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5840" y="16002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2144" y="1728216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实时转写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51890" y="2020570"/>
            <a:ext cx="2517775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100">
                <a:latin typeface="宋体" panose="02010600030101010101" pitchFamily="2" charset="-122"/>
              </a:rPr>
              <a:t>浏览器采集麦克风音频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100">
                <a:latin typeface="宋体" panose="02010600030101010101" pitchFamily="2" charset="-122"/>
              </a:rPr>
              <a:t>WebSocket（实时双向通信）传输</a:t>
            </a:r>
            <a:endParaRPr sz="1100">
              <a:latin typeface="宋体" panose="02010600030101010101" pitchFamily="2" charset="-122"/>
            </a:endParaRPr>
          </a:p>
          <a:p>
            <a:r>
              <a:rPr sz="1100">
                <a:latin typeface="宋体" panose="02010600030101010101" pitchFamily="2" charset="-122"/>
              </a:rPr>
              <a:t>ASR（自动语音识别）输出实时结果</a:t>
            </a:r>
            <a:endParaRPr sz="1100">
              <a:latin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26679" y="16002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72983" y="1728216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知识沉淀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72730" y="2020570"/>
            <a:ext cx="2375535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100">
                <a:latin typeface="宋体" panose="02010600030101010101" pitchFamily="2" charset="-122"/>
              </a:rPr>
              <a:t>转写、字幕、资料统一存储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100">
                <a:latin typeface="宋体" panose="02010600030101010101" pitchFamily="2" charset="-122"/>
              </a:rPr>
              <a:t>SQLite（轻量级数据库）/ JSONL（逐行JSON）/ Qdrant（向量数据库）</a:t>
            </a:r>
            <a:endParaRPr sz="1100">
              <a:latin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05840" y="406908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52144" y="4197096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课后学习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52144" y="4489704"/>
            <a:ext cx="22860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5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自动生成笔记、总结、测验</a:t>
            </a:r>
            <a:endParaRPr sz="125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125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支持历史回顾与导出</a:t>
            </a:r>
            <a:endParaRPr sz="125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26679" y="406908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72983" y="4197096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智能问答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72730" y="4489450"/>
            <a:ext cx="246126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100">
                <a:latin typeface="宋体" panose="02010600030101010101" pitchFamily="2" charset="-122"/>
              </a:rPr>
              <a:t>支持 current_lesson（当前课节）/ course_history（课程历史）/ global（全局）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100">
                <a:latin typeface="宋体" panose="02010600030101010101" pitchFamily="2" charset="-122"/>
              </a:rPr>
              <a:t>RAG（检索增强生成）+ LLM（大语言模型）生成回答</a:t>
            </a:r>
            <a:endParaRPr sz="1100">
              <a:latin typeface="宋体" panose="02010600030101010101" pitchFamily="2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730752" y="2221992"/>
            <a:ext cx="1161288" cy="704088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400800" y="2221992"/>
            <a:ext cx="1325879" cy="704088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endCxn id="7" idx="3"/>
          </p:cNvCxnSpPr>
          <p:nvPr/>
        </p:nvCxnSpPr>
        <p:spPr>
          <a:xfrm flipV="1">
            <a:off x="3730752" y="3482340"/>
            <a:ext cx="1382395" cy="1181100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endCxn id="7" idx="5"/>
          </p:cNvCxnSpPr>
          <p:nvPr/>
        </p:nvCxnSpPr>
        <p:spPr>
          <a:xfrm flipH="1" flipV="1">
            <a:off x="6179819" y="3482340"/>
            <a:ext cx="1546860" cy="1181100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907024"/>
            <a:ext cx="1024128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250" b="0">
                <a:solidFill>
                  <a:srgbClr val="1C2E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系统目标强调场景闭环，而不是单点模型能力；AI 能力以集成方式服务课堂学习流程。</a:t>
            </a:r>
            <a:endParaRPr sz="1250" b="0">
              <a:solidFill>
                <a:srgbClr val="1C2E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系统功能结构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实时课堂、问答、资料处理、视频字幕、历史回顾、课后学习六类功能协同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1389888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536192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实时课堂模块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37744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实时课堂模块</a:t>
            </a:r>
            <a:endParaRPr sz="15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139696"/>
            <a:ext cx="2331720" cy="8046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创建 Session（会话）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 ASR（自动语音识别） 模型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麦克风采集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实时转写展示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977639" y="1389888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23944" y="1536192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课堂问答模块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23944" y="1828800"/>
            <a:ext cx="237744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课堂问答模块</a:t>
            </a:r>
            <a:endParaRPr sz="15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42231" y="2139696"/>
            <a:ext cx="2331720" cy="8046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RAG（检索增强生成） 检索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LLM（大语言模型） 回答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引用上下文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问答记录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42048" y="1389888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88352" y="1536192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多模态资料处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8352" y="1828800"/>
            <a:ext cx="237744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多模态资料处理</a:t>
            </a:r>
            <a:endParaRPr sz="15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6640" y="2139696"/>
            <a:ext cx="2331720" cy="8046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EE923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课件上传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EE923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PDF/PPT/HTML/图片解析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EE923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OCR（文字识别）/VLM（视觉语言模型） 识别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EE923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结果入库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3232" y="3675887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3822191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视频与字幕模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4114800"/>
            <a:ext cx="237744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视频与字幕模块</a:t>
            </a:r>
            <a:endParaRPr sz="15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7824" y="4425696"/>
            <a:ext cx="2331720" cy="8046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视频录制/上传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音频抽取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FunASR（语音识别框架） 生成字幕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字幕入库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977639" y="3675887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23944" y="3822191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历史回顾模块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23944" y="4114800"/>
            <a:ext cx="237744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历史回顾模块</a:t>
            </a:r>
            <a:endParaRPr sz="15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42231" y="4425696"/>
            <a:ext cx="2331720" cy="8046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课程/课节列表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问答记录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转写/精修转写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视频与字幕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242048" y="3675887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88352" y="3822191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课后学习模块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88352" y="4114800"/>
            <a:ext cx="237744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课后学习模块</a:t>
            </a:r>
            <a:endParaRPr sz="15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06640" y="4425696"/>
            <a:ext cx="2331720" cy="8046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自动生成笔记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总结与测验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Lesson Copilot（课程学习助手）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8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Markdown（标记文本） 导出</a:t>
            </a:r>
            <a:endParaRPr sz="118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系统总体架构设计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采用前后端分离架构：前端交互、后端服务、智能能力与数据存储四层协同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07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353312"/>
            <a:ext cx="10652760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563624"/>
            <a:ext cx="1078992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前端层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12848" y="1554480"/>
            <a:ext cx="105156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79" y="1572768"/>
            <a:ext cx="996695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Vue3（前端框架）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74136" y="1554480"/>
            <a:ext cx="123444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695" y="1572895"/>
            <a:ext cx="1210945" cy="14605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pPr algn="ctr"/>
            <a:r>
              <a:rPr sz="800" b="1">
                <a:solidFill>
                  <a:srgbClr val="0C3762"/>
                </a:solidFill>
                <a:latin typeface="宋体" panose="02010600030101010101" pitchFamily="2" charset="-122"/>
              </a:rPr>
              <a:t>TypeScript（类型脚本）</a:t>
            </a:r>
            <a:endParaRPr sz="500" b="1">
              <a:solidFill>
                <a:srgbClr val="0C376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18304" y="1554480"/>
            <a:ext cx="141732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572768"/>
            <a:ext cx="136245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Pinia（状态管理）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45352" y="1554480"/>
            <a:ext cx="132588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572768"/>
            <a:ext cx="127101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Vue Router（路由）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80960" y="1554480"/>
            <a:ext cx="86868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572768"/>
            <a:ext cx="813815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Vite（构建）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59368" y="1554480"/>
            <a:ext cx="137160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572768"/>
            <a:ext cx="131673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Tailwind CSS（样式）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9808" y="2596896"/>
            <a:ext cx="10652760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2807208"/>
            <a:ext cx="1078992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后端服务层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212848" y="2798064"/>
            <a:ext cx="105156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79" y="2816352"/>
            <a:ext cx="996695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FastAPI（后端框架）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374136" y="2798064"/>
            <a:ext cx="123444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1568" y="2816352"/>
            <a:ext cx="117957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WebSocket（双向通信）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718304" y="2798064"/>
            <a:ext cx="141732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5736" y="2816352"/>
            <a:ext cx="136245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Session API（会话接口）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45352" y="2798064"/>
            <a:ext cx="132588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2816352"/>
            <a:ext cx="127101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History API（历史接口）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680960" y="2798064"/>
            <a:ext cx="86868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35697" y="2816987"/>
            <a:ext cx="813815" cy="22733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Video API（视频接口）</a:t>
            </a:r>
            <a:endParaRPr lang="en-US"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659495" y="2797810"/>
            <a:ext cx="2272030" cy="237490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816225"/>
            <a:ext cx="2216150" cy="22733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780" b="1">
                <a:solidFill>
                  <a:srgbClr val="0C3762"/>
                </a:solidFill>
                <a:latin typeface="宋体" panose="02010600030101010101" pitchFamily="2" charset="-122"/>
              </a:rPr>
              <a:t>Note/Copilot API（笔记/助手）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49808" y="3840480"/>
            <a:ext cx="10652760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2688" y="4050792"/>
            <a:ext cx="1078992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智能能力层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212848" y="4041648"/>
            <a:ext cx="105156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0279" y="4059936"/>
            <a:ext cx="996695" cy="22733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FunASR（语音识别）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374136" y="4041648"/>
            <a:ext cx="123444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4059936"/>
            <a:ext cx="117957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BGE（向量模型）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718304" y="4041648"/>
            <a:ext cx="141732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4059936"/>
            <a:ext cx="136245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Qdrant Retrieve（向量检索）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45352" y="4041648"/>
            <a:ext cx="132588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4" y="4059936"/>
            <a:ext cx="127101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LLM API（大模型接口）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680960" y="4041775"/>
            <a:ext cx="1838325" cy="237490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39025" y="4070350"/>
            <a:ext cx="2322195" cy="22733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780" b="1">
                <a:solidFill>
                  <a:srgbClr val="0C3762"/>
                </a:solidFill>
                <a:latin typeface="宋体" panose="02010600030101010101" pitchFamily="2" charset="-122"/>
              </a:rPr>
              <a:t>PaddleOCR（文字识别）/ Qwen-VL（视觉理解）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663303" y="4041648"/>
            <a:ext cx="137160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28505" y="4059936"/>
            <a:ext cx="131673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MinerU（文档解析）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49935" y="5083810"/>
            <a:ext cx="10652760" cy="7378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32688" y="5294376"/>
            <a:ext cx="1078992" cy="219456"/>
          </a:xfrm>
          <a:prstGeom prst="roundRect">
            <a:avLst>
              <a:gd name="adj" fmla="val 25000"/>
            </a:avLst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数据存储层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2212848" y="5285231"/>
            <a:ext cx="105156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79" y="5303520"/>
            <a:ext cx="996695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SQLite（轻量数据库）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374136" y="5285231"/>
            <a:ext cx="91440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01568" y="5303520"/>
            <a:ext cx="85953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JSONL（逐行JSON）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398264" y="5285231"/>
            <a:ext cx="118872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25696" y="5303520"/>
            <a:ext cx="1133856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0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本地文件系统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696712" y="5285231"/>
            <a:ext cx="960120" cy="237744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24144" y="5303520"/>
            <a:ext cx="905256" cy="14630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850" b="1">
                <a:solidFill>
                  <a:srgbClr val="0C3762"/>
                </a:solidFill>
                <a:latin typeface="宋体" panose="02010600030101010101" pitchFamily="2" charset="-122"/>
              </a:rPr>
              <a:t>Qdrant（向量库）</a:t>
            </a:r>
            <a:endParaRPr sz="11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以课程、课节和会话为中心的数据组织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>
                <a:latin typeface="宋体" panose="02010600030101010101" pitchFamily="2" charset="-122"/>
              </a:rPr>
              <a:t>系统围绕 course_id（课程标识）、lesson_id（课节标识）、session_id（会话标识）三个核心标识组织课堂数据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08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1444752"/>
            <a:ext cx="23317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145" y="1627505"/>
            <a:ext cx="899160" cy="237490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50000"/>
          </a:bodyPr>
          <a:lstStyle/>
          <a:p>
            <a:pPr algn="ctr"/>
            <a:r>
              <a:rPr>
                <a:latin typeface="宋体" panose="02010600030101010101" pitchFamily="2" charset="-122"/>
              </a:rPr>
              <a:t>course_id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1956816"/>
            <a:ext cx="1874519" cy="40233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组织同一门课程的多节课记录</a:t>
            </a:r>
            <a:endParaRPr sz="15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6280" y="1441450"/>
            <a:ext cx="2834640" cy="1146175"/>
          </a:xfrm>
          <a:prstGeom prst="roundRect">
            <a:avLst>
              <a:gd name="adj" fmla="val 12000"/>
            </a:avLst>
          </a:prstGeom>
          <a:solidFill>
            <a:srgbClr val="ECF4FC"/>
          </a:solidFill>
          <a:ln w="12700">
            <a:solidFill>
              <a:srgbClr val="BA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975104"/>
            <a:ext cx="2377440" cy="42062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3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聚合一节课内的语音、视频、资料、问答与笔记</a:t>
            </a:r>
            <a:endParaRPr sz="14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15400" y="1444752"/>
            <a:ext cx="23317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79865" y="1627505"/>
            <a:ext cx="824865" cy="237490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50000"/>
          </a:bodyPr>
          <a:lstStyle/>
          <a:p>
            <a:pPr algn="ctr"/>
            <a:r>
              <a:rPr>
                <a:latin typeface="宋体" panose="02010600030101010101" pitchFamily="2" charset="-122"/>
              </a:rPr>
              <a:t>session_id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25712" y="1956816"/>
            <a:ext cx="1920240" cy="40233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管理一次实时课堂会话的连接与状态</a:t>
            </a:r>
            <a:endParaRPr sz="15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05840" y="2944368"/>
            <a:ext cx="1828800" cy="237744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课中实时流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63824" y="2944368"/>
            <a:ext cx="1828800" cy="237744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资料 / 视频 / 视觉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25669" y="2948813"/>
            <a:ext cx="1828800" cy="237744"/>
          </a:xfrm>
          <a:prstGeom prst="roundRect">
            <a:avLst>
              <a:gd name="adj" fmla="val 25000"/>
            </a:avLst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统一落地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87133" y="2948813"/>
            <a:ext cx="1828800" cy="237744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问答 / 历史回顾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217152" y="2944368"/>
            <a:ext cx="1828800" cy="237744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课后笔记 / Copilot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"/>
            </p:custDataLst>
          </p:nvPr>
        </p:nvSpPr>
        <p:spPr>
          <a:xfrm>
            <a:off x="868680" y="3547872"/>
            <a:ext cx="3154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2"/>
            </p:custDataLst>
          </p:nvPr>
        </p:nvSpPr>
        <p:spPr>
          <a:xfrm>
            <a:off x="1033145" y="3712210"/>
            <a:ext cx="2679065" cy="1644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100">
                <a:sym typeface="+mn-ea"/>
              </a:rPr>
              <a:t>transcript_records（转写记录表）</a:t>
            </a:r>
            <a:endParaRPr sz="1100">
              <a:sym typeface="+mn-ea"/>
            </a:endParaRPr>
          </a:p>
        </p:txBody>
      </p:sp>
      <p:sp>
        <p:nvSpPr>
          <p:cNvPr id="23" name="TextBox 22"/>
          <p:cNvSpPr txBox="1"/>
          <p:nvPr>
            <p:custDataLst>
              <p:tags r:id="rId3"/>
            </p:custDataLst>
          </p:nvPr>
        </p:nvSpPr>
        <p:spPr>
          <a:xfrm>
            <a:off x="1033271" y="3986783"/>
            <a:ext cx="269748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课堂转写、字幕、资料解析结果</a:t>
            </a:r>
            <a:endParaRPr sz="11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4"/>
            </p:custDataLst>
          </p:nvPr>
        </p:nvSpPr>
        <p:spPr>
          <a:xfrm>
            <a:off x="4480560" y="3547872"/>
            <a:ext cx="3154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5"/>
            </p:custDataLst>
          </p:nvPr>
        </p:nvSpPr>
        <p:spPr>
          <a:xfrm>
            <a:off x="4645025" y="3712210"/>
            <a:ext cx="2697480" cy="1644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100">
                <a:sym typeface="+mn-ea"/>
              </a:rPr>
              <a:t>chat_messages（问答消息表）</a:t>
            </a:r>
            <a:endParaRPr sz="1100">
              <a:sym typeface="+mn-ea"/>
            </a:endParaRPr>
          </a:p>
        </p:txBody>
      </p:sp>
      <p:sp>
        <p:nvSpPr>
          <p:cNvPr id="26" name="TextBox 25"/>
          <p:cNvSpPr txBox="1"/>
          <p:nvPr>
            <p:custDataLst>
              <p:tags r:id="rId6"/>
            </p:custDataLst>
          </p:nvPr>
        </p:nvSpPr>
        <p:spPr>
          <a:xfrm>
            <a:off x="4645152" y="3986783"/>
            <a:ext cx="269748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问答消息与追问历史</a:t>
            </a:r>
            <a:endParaRPr sz="11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>
            <p:custDataLst>
              <p:tags r:id="rId7"/>
            </p:custDataLst>
          </p:nvPr>
        </p:nvSpPr>
        <p:spPr>
          <a:xfrm>
            <a:off x="8183879" y="3547872"/>
            <a:ext cx="3154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8"/>
            </p:custDataLst>
          </p:nvPr>
        </p:nvSpPr>
        <p:spPr>
          <a:xfrm>
            <a:off x="8348345" y="3712210"/>
            <a:ext cx="2697480" cy="1644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100">
                <a:latin typeface="宋体" panose="02010600030101010101" pitchFamily="2" charset="-122"/>
              </a:rPr>
              <a:t>lesson_videos（视频记录表）</a:t>
            </a:r>
            <a:endParaRPr sz="4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9"/>
            </p:custDataLst>
          </p:nvPr>
        </p:nvSpPr>
        <p:spPr>
          <a:xfrm>
            <a:off x="8348345" y="3986530"/>
            <a:ext cx="2760980" cy="21971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>
              <a:buClrTx/>
              <a:buSzTx/>
              <a:buFontTx/>
            </a:pPr>
            <a:r>
              <a:rPr sz="1100">
                <a:solidFill>
                  <a:srgbClr val="6C8096"/>
                </a:solidFill>
                <a:latin typeface="宋体" panose="02010600030101010101" pitchFamily="2" charset="-122"/>
              </a:rPr>
              <a:t>视频、wav（音频文件）、srt（字幕文件）、segment metadata（片段元数据）</a:t>
            </a:r>
            <a:endParaRPr sz="6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Rounded Rectangle 29"/>
          <p:cNvSpPr/>
          <p:nvPr>
            <p:custDataLst>
              <p:tags r:id="rId10"/>
            </p:custDataLst>
          </p:nvPr>
        </p:nvSpPr>
        <p:spPr>
          <a:xfrm>
            <a:off x="868680" y="4681728"/>
            <a:ext cx="3154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11"/>
            </p:custDataLst>
          </p:nvPr>
        </p:nvSpPr>
        <p:spPr>
          <a:xfrm>
            <a:off x="1033271" y="4846320"/>
            <a:ext cx="26060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100">
                <a:sym typeface="+mn-ea"/>
              </a:rPr>
              <a:t>lesson_assets（资料记录表）</a:t>
            </a:r>
            <a:endParaRPr sz="1100">
              <a:sym typeface="+mn-ea"/>
            </a:endParaRPr>
          </a:p>
        </p:txBody>
      </p:sp>
      <p:sp>
        <p:nvSpPr>
          <p:cNvPr id="32" name="TextBox 31"/>
          <p:cNvSpPr txBox="1"/>
          <p:nvPr>
            <p:custDataLst>
              <p:tags r:id="rId12"/>
            </p:custDataLst>
          </p:nvPr>
        </p:nvSpPr>
        <p:spPr>
          <a:xfrm>
            <a:off x="1033271" y="5120640"/>
            <a:ext cx="269748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050">
                <a:solidFill>
                  <a:srgbClr val="6C8096"/>
                </a:solidFill>
                <a:sym typeface="+mn-ea"/>
              </a:rPr>
              <a:t>上</a:t>
            </a:r>
            <a:r>
              <a:rPr sz="1050">
                <a:solidFill>
                  <a:srgbClr val="6C8096"/>
                </a:solidFill>
                <a:sym typeface="+mn-ea"/>
              </a:rPr>
              <a:t>传</a:t>
            </a:r>
            <a:r>
              <a:rPr sz="1050">
                <a:solidFill>
                  <a:srgbClr val="6C8096"/>
                </a:solidFill>
                <a:sym typeface="+mn-ea"/>
              </a:rPr>
              <a:t>资料、MinerU（文档解析</a:t>
            </a:r>
            <a:r>
              <a:rPr sz="1050">
                <a:solidFill>
                  <a:srgbClr val="6C8096"/>
                </a:solidFill>
                <a:sym typeface="+mn-ea"/>
              </a:rPr>
              <a:t>工具</a:t>
            </a:r>
            <a:r>
              <a:rPr sz="1050">
                <a:solidFill>
                  <a:srgbClr val="6C8096"/>
                </a:solidFill>
                <a:sym typeface="+mn-ea"/>
              </a:rPr>
              <a:t>） 解析</a:t>
            </a:r>
            <a:r>
              <a:rPr sz="1050">
                <a:solidFill>
                  <a:srgbClr val="6C8096"/>
                </a:solidFill>
                <a:sym typeface="+mn-ea"/>
              </a:rPr>
              <a:t>状态</a:t>
            </a:r>
            <a:endParaRPr sz="1100">
              <a:sym typeface="+mn-ea"/>
            </a:endParaRPr>
          </a:p>
        </p:txBody>
      </p:sp>
      <p:sp>
        <p:nvSpPr>
          <p:cNvPr id="33" name="Rounded Rectangle 32"/>
          <p:cNvSpPr/>
          <p:nvPr>
            <p:custDataLst>
              <p:tags r:id="rId13"/>
            </p:custDataLst>
          </p:nvPr>
        </p:nvSpPr>
        <p:spPr>
          <a:xfrm>
            <a:off x="4480560" y="4681728"/>
            <a:ext cx="3154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>
            <p:custDataLst>
              <p:tags r:id="rId14"/>
            </p:custDataLst>
          </p:nvPr>
        </p:nvSpPr>
        <p:spPr>
          <a:xfrm>
            <a:off x="4645152" y="4846320"/>
            <a:ext cx="26060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100">
                <a:sym typeface="+mn-ea"/>
              </a:rPr>
              <a:t>lesson_notes（课后笔记表）</a:t>
            </a:r>
            <a:endParaRPr sz="1100">
              <a:sym typeface="+mn-ea"/>
            </a:endParaRPr>
          </a:p>
        </p:txBody>
      </p:sp>
      <p:sp>
        <p:nvSpPr>
          <p:cNvPr id="35" name="TextBox 34"/>
          <p:cNvSpPr txBox="1"/>
          <p:nvPr>
            <p:custDataLst>
              <p:tags r:id="rId15"/>
            </p:custDataLst>
          </p:nvPr>
        </p:nvSpPr>
        <p:spPr>
          <a:xfrm>
            <a:off x="4645152" y="5120640"/>
            <a:ext cx="269748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结构化笔记、Markdown（标记文本）、状态</a:t>
            </a:r>
            <a:endParaRPr sz="11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Rounded Rectangle 35"/>
          <p:cNvSpPr/>
          <p:nvPr>
            <p:custDataLst>
              <p:tags r:id="rId16"/>
            </p:custDataLst>
          </p:nvPr>
        </p:nvSpPr>
        <p:spPr>
          <a:xfrm>
            <a:off x="8183879" y="4681728"/>
            <a:ext cx="3154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>
            <p:custDataLst>
              <p:tags r:id="rId17"/>
            </p:custDataLst>
          </p:nvPr>
        </p:nvSpPr>
        <p:spPr>
          <a:xfrm>
            <a:off x="8348345" y="4846320"/>
            <a:ext cx="2876550" cy="1644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100">
                <a:sym typeface="+mn-ea"/>
              </a:rPr>
              <a:t>refined_transcript_records（精修转写表）</a:t>
            </a:r>
            <a:endParaRPr sz="1100">
              <a:sym typeface="+mn-ea"/>
            </a:endParaRPr>
          </a:p>
        </p:txBody>
      </p:sp>
      <p:sp>
        <p:nvSpPr>
          <p:cNvPr id="38" name="TextBox 37"/>
          <p:cNvSpPr txBox="1"/>
          <p:nvPr>
            <p:custDataLst>
              <p:tags r:id="rId18"/>
            </p:custDataLst>
          </p:nvPr>
        </p:nvSpPr>
        <p:spPr>
          <a:xfrm>
            <a:off x="8348471" y="5120640"/>
            <a:ext cx="269748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精修转写与替换关系</a:t>
            </a:r>
            <a:endParaRPr sz="11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377440" y="5779008"/>
            <a:ext cx="7498079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>
                <a:latin typeface="宋体" panose="02010600030101010101" pitchFamily="2" charset="-122"/>
              </a:rPr>
              <a:t>组织逻辑：course_id（课程标识）负责课程维度，lesson_id（课节标识）负责课节聚合，session_id（会话标识）负责一次实时课堂会话。</a:t>
            </a:r>
            <a:endParaRPr sz="13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Rounded Rectangle 7"/>
          <p:cNvSpPr/>
          <p:nvPr/>
        </p:nvSpPr>
        <p:spPr>
          <a:xfrm>
            <a:off x="4687570" y="1628140"/>
            <a:ext cx="876300" cy="23749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50000"/>
          </a:bodyPr>
          <a:lstStyle/>
          <a:p>
            <a:pPr algn="ctr"/>
            <a:r>
              <a:rPr>
                <a:latin typeface="宋体" panose="02010600030101010101" pitchFamily="2" charset="-122"/>
              </a:rPr>
              <a:t>lesson_id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实时语音识别模块设计与实现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>
                <a:latin typeface="宋体" panose="02010600030101010101" pitchFamily="2" charset="-122"/>
              </a:rPr>
              <a:t>浏览器麦克风音频经 WebSocket（实时双向通信）进入后端流水线，输出 partial / final transcript（中间/最终转写）并持久化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09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993392"/>
            <a:ext cx="1024128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50135"/>
            <a:ext cx="9144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ctr"/>
            <a:r>
              <a:rPr sz="1000">
                <a:latin typeface="宋体" panose="02010600030101010101" pitchFamily="2" charset="-122"/>
              </a:rPr>
              <a:t>Browser Mic</a:t>
            </a:r>
            <a:endParaRPr sz="10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000">
                <a:latin typeface="宋体" panose="02010600030101010101" pitchFamily="2" charset="-122"/>
              </a:rPr>
              <a:t>浏览器麦克风</a:t>
            </a:r>
            <a:endParaRPr sz="1000">
              <a:latin typeface="宋体" panose="02010600030101010101" pitchFamily="2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755648" y="2487168"/>
            <a:ext cx="237744" cy="0"/>
          </a:xfrm>
          <a:prstGeom prst="line">
            <a:avLst/>
          </a:prstGeom>
          <a:ln w="2159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93392" y="1993392"/>
            <a:ext cx="1024128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56" y="2286000"/>
            <a:ext cx="9144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ctr"/>
            <a:r>
              <a:rPr sz="900">
                <a:latin typeface="宋体" panose="02010600030101010101" pitchFamily="2" charset="-122"/>
              </a:rPr>
              <a:t>AudioContext</a:t>
            </a:r>
            <a:endParaRPr sz="9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900">
                <a:latin typeface="宋体" panose="02010600030101010101" pitchFamily="2" charset="-122"/>
              </a:rPr>
              <a:t>  </a:t>
            </a:r>
            <a:r>
              <a:rPr sz="900">
                <a:latin typeface="宋体" panose="02010600030101010101" pitchFamily="2" charset="-122"/>
              </a:rPr>
              <a:t>音频上下文</a:t>
            </a:r>
            <a:endParaRPr sz="900">
              <a:latin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487168"/>
            <a:ext cx="237744" cy="0"/>
          </a:xfrm>
          <a:prstGeom prst="line">
            <a:avLst/>
          </a:prstGeom>
          <a:ln w="2159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55264" y="1993392"/>
            <a:ext cx="1024128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350135"/>
            <a:ext cx="9144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WebSocket</a:t>
            </a:r>
            <a:endParaRPr sz="9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双向通信</a:t>
            </a:r>
            <a:endParaRPr sz="900">
              <a:sym typeface="+mn-ea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279392" y="2487168"/>
            <a:ext cx="237744" cy="0"/>
          </a:xfrm>
          <a:prstGeom prst="line">
            <a:avLst/>
          </a:prstGeom>
          <a:ln w="2159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05376" y="1994027"/>
            <a:ext cx="1024128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0240" y="2350135"/>
            <a:ext cx="9144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VAD</a:t>
            </a:r>
            <a:endParaRPr sz="9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语音活动检测</a:t>
            </a:r>
            <a:endParaRPr sz="900">
              <a:sym typeface="+mn-ea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30139" y="2487168"/>
            <a:ext cx="285115" cy="0"/>
          </a:xfrm>
          <a:prstGeom prst="line">
            <a:avLst/>
          </a:prstGeom>
          <a:ln w="2159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58612" y="1994662"/>
            <a:ext cx="1024128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4746" y="2350135"/>
            <a:ext cx="9144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ASR Driver</a:t>
            </a:r>
            <a:endParaRPr sz="9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识别驱动</a:t>
            </a:r>
            <a:endParaRPr sz="900">
              <a:sym typeface="+mn-ea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583680" y="2487168"/>
            <a:ext cx="256032" cy="0"/>
          </a:xfrm>
          <a:prstGeom prst="line">
            <a:avLst/>
          </a:prstGeom>
          <a:ln w="2159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39712" y="1993392"/>
            <a:ext cx="1024128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2356" y="2350135"/>
            <a:ext cx="9144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Transcript</a:t>
            </a:r>
            <a:endParaRPr sz="9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转写文本</a:t>
            </a:r>
            <a:endParaRPr sz="900">
              <a:sym typeface="+mn-ea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2487168"/>
            <a:ext cx="164591" cy="0"/>
          </a:xfrm>
          <a:prstGeom prst="line">
            <a:avLst/>
          </a:prstGeom>
          <a:ln w="2159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28431" y="1993392"/>
            <a:ext cx="1024128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3296" y="2359660"/>
            <a:ext cx="9144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Storage</a:t>
            </a:r>
            <a:endParaRPr sz="9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数据存储</a:t>
            </a:r>
            <a:endParaRPr sz="900">
              <a:sym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03720" y="3145536"/>
            <a:ext cx="20116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partial / final transcript</a:t>
            </a:r>
            <a:endParaRPr sz="9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中间 / 最终转写</a:t>
            </a:r>
            <a:endParaRPr sz="900">
              <a:sym typeface="+mn-ea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64040" y="1389888"/>
            <a:ext cx="1828800" cy="4572000"/>
          </a:xfrm>
          <a:prstGeom prst="roundRect">
            <a:avLst>
              <a:gd name="adj" fmla="val 12000"/>
            </a:avLst>
          </a:prstGeom>
          <a:solidFill>
            <a:srgbClr val="F8FB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1719072"/>
            <a:ext cx="123444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关键实现</a:t>
            </a:r>
            <a:endParaRPr sz="18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37776" y="2194560"/>
            <a:ext cx="1417320" cy="3291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92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/ws/audio/{session_id}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92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session 生命周期管理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92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音频指标回传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92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区分中间结果与最终结果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92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断开连接后的资源释放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4672" y="4005072"/>
            <a:ext cx="233172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" y="4005072"/>
            <a:ext cx="73152" cy="694944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096512"/>
            <a:ext cx="82296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浏览器侧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4279392"/>
            <a:ext cx="2057400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2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麦克风采集 / 音频分帧</a:t>
            </a:r>
            <a:endParaRPr sz="112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383280" y="4005072"/>
            <a:ext cx="233172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4005072"/>
            <a:ext cx="73152" cy="694944"/>
          </a:xfrm>
          <a:prstGeom prst="rect">
            <a:avLst/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93008" y="4096512"/>
            <a:ext cx="82296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后端侧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93008" y="4279392"/>
            <a:ext cx="2057400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RealtimeSpeechService（实时语音服务）+</a:t>
            </a:r>
            <a:endParaRPr sz="9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StreamProcessor（流处理器）</a:t>
            </a:r>
            <a:endParaRPr sz="900">
              <a:sym typeface="+mn-ea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980176" y="4005072"/>
            <a:ext cx="233172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0176" y="4005072"/>
            <a:ext cx="73152" cy="694944"/>
          </a:xfrm>
          <a:prstGeom prst="rect">
            <a:avLst/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9904" y="4096512"/>
            <a:ext cx="82296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输出侧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70295" y="4279265"/>
            <a:ext cx="2070100" cy="31115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SQLite（轻量级数据库） + JSONL（逐行JSON） +</a:t>
            </a:r>
            <a:endParaRPr sz="9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准实时索引</a:t>
            </a:r>
            <a:endParaRPr sz="900">
              <a:sym typeface="+mn-ea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04672" y="4828032"/>
            <a:ext cx="7507224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4828032"/>
            <a:ext cx="91440" cy="804672"/>
          </a:xfrm>
          <a:prstGeom prst="rect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" y="4956048"/>
            <a:ext cx="77724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关键链路</a:t>
            </a:r>
            <a:endParaRPr sz="10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69264" y="5157216"/>
            <a:ext cx="6949440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900">
                <a:sym typeface="+mn-ea"/>
              </a:rPr>
              <a:t>Browser Mic（浏览器麦克风）→ /ws/audio/{session_id} → VAD（语音活动检测）→ ASR（自动语音识别）→ partial/final（中间/最终）→ Storage（存储）/ Frontend（前端）</a:t>
            </a:r>
            <a:endParaRPr sz="9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 RAG（检索增强生成） 的课堂知识检索与问答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回答基于课堂真实内容，而不是只依赖通用大模型知识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914400" cy="102412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30552"/>
            <a:ext cx="841248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ctr"/>
            <a:r>
              <a:rPr sz="1000">
                <a:latin typeface="宋体" panose="02010600030101010101" pitchFamily="2" charset="-122"/>
              </a:rPr>
              <a:t>Transcript</a:t>
            </a:r>
            <a:endParaRPr sz="10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1000">
                <a:latin typeface="宋体" panose="02010600030101010101" pitchFamily="2" charset="-122"/>
              </a:rPr>
              <a:t>  </a:t>
            </a:r>
            <a:r>
              <a:rPr sz="1000">
                <a:latin typeface="宋体" panose="02010600030101010101" pitchFamily="2" charset="-122"/>
              </a:rPr>
              <a:t>Record</a:t>
            </a:r>
            <a:endParaRPr sz="1000">
              <a:latin typeface="宋体" panose="02010600030101010101" pitchFamily="2" charset="-122"/>
            </a:endParaRPr>
          </a:p>
          <a:p>
            <a:r>
              <a:rPr lang="en-US" sz="1000">
                <a:latin typeface="宋体" panose="02010600030101010101" pitchFamily="2" charset="-122"/>
              </a:rPr>
              <a:t> </a:t>
            </a:r>
            <a:r>
              <a:rPr sz="1000">
                <a:latin typeface="宋体" panose="02010600030101010101" pitchFamily="2" charset="-122"/>
              </a:rPr>
              <a:t>转写记录</a:t>
            </a:r>
            <a:endParaRPr sz="1000">
              <a:latin typeface="宋体" panose="02010600030101010101" pitchFamily="2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645920" y="2331720"/>
            <a:ext cx="201168" cy="0"/>
          </a:xfrm>
          <a:prstGeom prst="line">
            <a:avLst/>
          </a:prstGeom>
          <a:ln w="22860">
            <a:solidFill>
              <a:srgbClr val="EE9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47088" y="1828800"/>
            <a:ext cx="914400" cy="102412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83664" y="2194687"/>
            <a:ext cx="841248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Chunk</a:t>
            </a:r>
            <a:endParaRPr sz="10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文本切片</a:t>
            </a:r>
            <a:endParaRPr sz="1000">
              <a:sym typeface="+mn-ea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761488" y="2331720"/>
            <a:ext cx="182880" cy="0"/>
          </a:xfrm>
          <a:prstGeom prst="line">
            <a:avLst/>
          </a:prstGeom>
          <a:ln w="22860">
            <a:solidFill>
              <a:srgbClr val="EE9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44368" y="1828800"/>
            <a:ext cx="914400" cy="102412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2130552"/>
            <a:ext cx="841248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BGE</a:t>
            </a:r>
            <a:endParaRPr sz="10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Embedding</a:t>
            </a:r>
            <a:endParaRPr sz="10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文本向量</a:t>
            </a:r>
            <a:endParaRPr sz="1000">
              <a:sym typeface="+mn-ea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858768" y="2331720"/>
            <a:ext cx="237744" cy="0"/>
          </a:xfrm>
          <a:prstGeom prst="line">
            <a:avLst/>
          </a:prstGeom>
          <a:ln w="22860">
            <a:solidFill>
              <a:srgbClr val="EE9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96512" y="1828800"/>
            <a:ext cx="9144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2453" y="2194687"/>
            <a:ext cx="841248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Qdrant</a:t>
            </a:r>
            <a:endParaRPr sz="10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向量数据库</a:t>
            </a:r>
            <a:endParaRPr sz="1000">
              <a:sym typeface="+mn-ea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010912" y="2331720"/>
            <a:ext cx="274320" cy="0"/>
          </a:xfrm>
          <a:prstGeom prst="line">
            <a:avLst/>
          </a:prstGeom>
          <a:ln w="22860">
            <a:solidFill>
              <a:srgbClr val="EE9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85232" y="1828800"/>
            <a:ext cx="9144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2148967"/>
            <a:ext cx="841248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Retrieve</a:t>
            </a:r>
            <a:endParaRPr sz="10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检索</a:t>
            </a:r>
            <a:endParaRPr sz="1000">
              <a:sym typeface="+mn-ea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199632" y="2331720"/>
            <a:ext cx="219456" cy="0"/>
          </a:xfrm>
          <a:prstGeom prst="line">
            <a:avLst/>
          </a:prstGeom>
          <a:ln w="22860">
            <a:solidFill>
              <a:srgbClr val="EE9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19088" y="1828800"/>
            <a:ext cx="9144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6299" y="2194687"/>
            <a:ext cx="841248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Prompt</a:t>
            </a:r>
            <a:endParaRPr sz="10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提示词</a:t>
            </a:r>
            <a:endParaRPr sz="1000">
              <a:sym typeface="+mn-ea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333488" y="2331720"/>
            <a:ext cx="256032" cy="0"/>
          </a:xfrm>
          <a:prstGeom prst="line">
            <a:avLst/>
          </a:prstGeom>
          <a:ln w="22860">
            <a:solidFill>
              <a:srgbClr val="EE9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89520" y="1828800"/>
            <a:ext cx="914400" cy="1024128"/>
          </a:xfrm>
          <a:prstGeom prst="roundRect">
            <a:avLst>
              <a:gd name="adj" fmla="val 12000"/>
            </a:avLst>
          </a:prstGeom>
          <a:solidFill>
            <a:srgbClr val="F5FAF6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6096" y="2130552"/>
            <a:ext cx="841248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LLM</a:t>
            </a:r>
            <a:endParaRPr sz="10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Answer</a:t>
            </a:r>
            <a:endParaRPr sz="1000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sz="1000">
                <a:sym typeface="+mn-ea"/>
              </a:rPr>
              <a:t>大模型回答</a:t>
            </a:r>
            <a:endParaRPr sz="1000">
              <a:sym typeface="+mn-ea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372600" y="1572768"/>
            <a:ext cx="1901952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9488" y="1828800"/>
            <a:ext cx="11430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检索范围</a:t>
            </a:r>
            <a:endParaRPr sz="1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601200" y="2194560"/>
            <a:ext cx="1243584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900">
                <a:latin typeface="宋体" panose="02010600030101010101" pitchFamily="2" charset="-122"/>
              </a:rPr>
              <a:t>current_lesson（当前课节）</a:t>
            </a:r>
            <a:endParaRPr sz="9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601200" y="2542032"/>
            <a:ext cx="1243584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40000"/>
          </a:bodyPr>
          <a:lstStyle/>
          <a:p>
            <a:pPr algn="ctr"/>
            <a:r>
              <a:rPr>
                <a:latin typeface="宋体" panose="02010600030101010101" pitchFamily="2" charset="-122"/>
              </a:rPr>
              <a:t>course_all（整</a:t>
            </a:r>
            <a:r>
              <a:rPr sz="900">
                <a:latin typeface="宋体" panose="02010600030101010101" pitchFamily="2" charset="-122"/>
              </a:rPr>
              <a:t>门</a:t>
            </a:r>
            <a:r>
              <a:rPr>
                <a:latin typeface="宋体" panose="02010600030101010101" pitchFamily="2" charset="-122"/>
              </a:rPr>
              <a:t>课程）</a:t>
            </a:r>
            <a:endParaRPr sz="10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601200" y="2889504"/>
            <a:ext cx="1243584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40000"/>
          </a:bodyPr>
          <a:lstStyle/>
          <a:p>
            <a:pPr algn="ctr"/>
            <a:r>
              <a:rPr>
                <a:latin typeface="宋体" panose="02010600030101010101" pitchFamily="2" charset="-122"/>
              </a:rPr>
              <a:t>course_history（</a:t>
            </a:r>
            <a:r>
              <a:rPr sz="900">
                <a:latin typeface="宋体" panose="02010600030101010101" pitchFamily="2" charset="-122"/>
              </a:rPr>
              <a:t>课程</a:t>
            </a:r>
            <a:r>
              <a:rPr>
                <a:latin typeface="宋体" panose="02010600030101010101" pitchFamily="2" charset="-122"/>
              </a:rPr>
              <a:t>历史）</a:t>
            </a:r>
            <a:endParaRPr sz="10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1200" y="3236976"/>
            <a:ext cx="1243584" cy="219456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40000"/>
          </a:bodyPr>
          <a:lstStyle/>
          <a:p>
            <a:pPr algn="ctr"/>
            <a:r>
              <a:rPr>
                <a:latin typeface="宋体" panose="02010600030101010101" pitchFamily="2" charset="-122"/>
              </a:rPr>
              <a:t>global（全局</a:t>
            </a:r>
            <a:r>
              <a:rPr sz="900">
                <a:latin typeface="宋体" panose="02010600030101010101" pitchFamily="2" charset="-122"/>
              </a:rPr>
              <a:t>知识库</a:t>
            </a:r>
            <a:r>
              <a:rPr>
                <a:latin typeface="宋体" panose="02010600030101010101" pitchFamily="2" charset="-122"/>
              </a:rPr>
              <a:t>）</a:t>
            </a:r>
            <a:endParaRPr sz="10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601200" y="3584448"/>
            <a:ext cx="1243584" cy="219456"/>
          </a:xfrm>
          <a:prstGeom prst="roundRect">
            <a:avLst>
              <a:gd name="adj" fmla="val 25000"/>
            </a:avLst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40000"/>
          </a:bodyPr>
          <a:lstStyle/>
          <a:p>
            <a:pPr algn="ctr"/>
            <a:r>
              <a:rPr>
                <a:latin typeface="宋体" panose="02010600030101010101" pitchFamily="2" charset="-122"/>
              </a:rPr>
              <a:t>auto（自动判断</a:t>
            </a:r>
            <a:r>
              <a:rPr sz="900">
                <a:latin typeface="宋体" panose="02010600030101010101" pitchFamily="2" charset="-122"/>
              </a:rPr>
              <a:t>）</a:t>
            </a:r>
            <a:endParaRPr sz="10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808" y="3520440"/>
            <a:ext cx="7772400" cy="685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>
                <a:latin typeface="宋体" panose="02010600030101010101" pitchFamily="2" charset="-122"/>
              </a:rPr>
              <a:t>处理流程：TranscriptRecord（转写记录）统一承载课堂内容，再切分为 chunk（文本切片）并写入 Qdrant（向量数据库）；用户提问时先检索相关片段，再将检索结果与问题共同组织为 Prompt（提示词），交给 LLM（大语言模型）生成回答。</a:t>
            </a:r>
            <a:endParaRPr sz="13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49808" y="4709160"/>
            <a:ext cx="78181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8" y="4709160"/>
            <a:ext cx="91440" cy="749808"/>
          </a:xfrm>
          <a:prstGeom prst="rect">
            <a:avLst/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937760"/>
            <a:ext cx="72694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2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价值：以“课堂内容”组织知识检索，降低普通聊天机器人脱离课堂上下文的问题。</a:t>
            </a:r>
            <a:endParaRPr sz="132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多源课堂资料接入与统一入库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>
                <a:latin typeface="宋体" panose="02010600030101010101" pitchFamily="2" charset="-122"/>
              </a:rPr>
              <a:t>语音、视频字幕、文档资料和视觉识别统一转成 transcript_records（转写记录表），再进入检索链路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4956048" y="2395728"/>
            <a:ext cx="1417320" cy="1417320"/>
          </a:xfrm>
          <a:prstGeom prst="ellipse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10455" y="2802255"/>
            <a:ext cx="1508760" cy="6045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宋体" panose="02010600030101010101" pitchFamily="2" charset="-122"/>
              </a:rPr>
              <a:t>Transcript</a:t>
            </a:r>
            <a:endParaRPr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1800" b="1">
                <a:solidFill>
                  <a:srgbClr val="FFFFFF"/>
                </a:solidFill>
                <a:latin typeface="宋体" panose="02010600030101010101" pitchFamily="2" charset="-122"/>
              </a:rPr>
              <a:t>Record</a:t>
            </a:r>
            <a:endParaRPr sz="1800" b="1">
              <a:solidFill>
                <a:srgbClr val="FFFFFF"/>
              </a:solidFill>
              <a:latin typeface="宋体" panose="02010600030101010101" pitchFamily="2" charset="-122"/>
            </a:endParaRPr>
          </a:p>
          <a:p>
            <a:pPr algn="ctr"/>
            <a:r>
              <a:rPr sz="1800" b="1">
                <a:solidFill>
                  <a:srgbClr val="FFFFFF"/>
                </a:solidFill>
                <a:latin typeface="宋体" panose="02010600030101010101" pitchFamily="2" charset="-122"/>
              </a:rPr>
              <a:t>转写记录</a:t>
            </a:r>
            <a:endParaRPr sz="18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27632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290" y="1743710"/>
            <a:ext cx="1087120" cy="250190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</a:rPr>
              <a:t>语音 ASR（自动语音识别） 输出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544" y="2066543"/>
            <a:ext cx="2423160" cy="3840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实时转写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浏览器麦克风 → WebSocket（双向通信）</a:t>
            </a:r>
            <a:endParaRPr sz="900">
              <a:solidFill>
                <a:srgbClr val="0C3762"/>
              </a:solidFill>
              <a:latin typeface="宋体" panose="02010600030101010101" pitchFamily="2" charset="-122"/>
            </a:endParaRPr>
          </a:p>
          <a:p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→ FunASR / Paraformer（语音识别）</a:t>
            </a:r>
            <a:endParaRPr sz="900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76768" y="1435989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44028" y="1627378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</a:rPr>
              <a:t>视频字幕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82128" y="1915541"/>
            <a:ext cx="2423160" cy="3840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上传视频 → FFmpeg（音视频处理）抽音频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→ FunASR（语音识别）→ SRT（字幕文件）</a:t>
            </a:r>
            <a:endParaRPr sz="900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4315968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" y="4462272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</a:rPr>
              <a:t>文档资料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3290" y="4754880"/>
            <a:ext cx="2677795" cy="39433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支持 PDF / PPT / Word / HTML / 图片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MinerU（文档解析）解析文本、结构、公式与表格</a:t>
            </a:r>
            <a:endParaRPr sz="900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35824" y="4315968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82128" y="4462272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</a:rPr>
              <a:t>视觉识别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82255" y="4754880"/>
            <a:ext cx="2688590" cy="56578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课堂画面区域框选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PaddleOCR（OCR文字识别）</a:t>
            </a:r>
            <a:endParaRPr sz="900">
              <a:solidFill>
                <a:srgbClr val="0C3762"/>
              </a:solidFill>
              <a:latin typeface="宋体" panose="02010600030101010101" pitchFamily="2" charset="-122"/>
            </a:endParaRPr>
          </a:p>
          <a:p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Qwen2.5-VL（VLM视觉语言模型）</a:t>
            </a:r>
            <a:endParaRPr sz="900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2103120"/>
            <a:ext cx="1344168" cy="969264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2" idx="1"/>
            <a:endCxn id="7" idx="7"/>
          </p:cNvCxnSpPr>
          <p:nvPr/>
        </p:nvCxnSpPr>
        <p:spPr>
          <a:xfrm flipH="1">
            <a:off x="6165850" y="1915795"/>
            <a:ext cx="1510665" cy="687705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endCxn id="7" idx="3"/>
          </p:cNvCxnSpPr>
          <p:nvPr/>
        </p:nvCxnSpPr>
        <p:spPr>
          <a:xfrm flipV="1">
            <a:off x="3611880" y="3605530"/>
            <a:ext cx="1551940" cy="1149350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endCxn id="7" idx="5"/>
          </p:cNvCxnSpPr>
          <p:nvPr/>
        </p:nvCxnSpPr>
        <p:spPr>
          <a:xfrm flipH="1" flipV="1">
            <a:off x="6166104" y="3605530"/>
            <a:ext cx="1569720" cy="1149350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88920" y="5687568"/>
            <a:ext cx="658368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750">
                <a:solidFill>
                  <a:srgbClr val="0C3762"/>
                </a:solidFill>
                <a:latin typeface="宋体" panose="02010600030101010101" pitchFamily="2" charset="-122"/>
              </a:rPr>
              <a:t>统一入库字段：source_type（来源类型）、course_id（课程标识）、lesson_id（课节标识）、session_id（会话标识）等元数据，为后续 RAG（检索增强生成）与历史追溯提供基础。</a:t>
            </a:r>
            <a:endParaRPr sz="128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视频字幕生成与课后回顾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1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视频回放、字幕生成、历史问答与转写追溯构成课后回看能力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306324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09344"/>
            <a:ext cx="146304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视频处理流程</a:t>
            </a:r>
            <a:endParaRPr sz="17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969264" y="1993392"/>
            <a:ext cx="237744" cy="237744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11680"/>
            <a:ext cx="237744" cy="1097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16736" y="1975104"/>
            <a:ext cx="20574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前端录制或上传课堂视频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69264" y="2542032"/>
            <a:ext cx="237744" cy="237744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560320"/>
            <a:ext cx="237744" cy="1097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16736" y="2523744"/>
            <a:ext cx="20574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后端保存视频文件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69264" y="3090672"/>
            <a:ext cx="237744" cy="237744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108960"/>
            <a:ext cx="237744" cy="1097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16736" y="3072384"/>
            <a:ext cx="20574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FFmpeg（音视频处理工具） 抽取音频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69264" y="3639312"/>
            <a:ext cx="237744" cy="237744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657600"/>
            <a:ext cx="237744" cy="1097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16736" y="3621024"/>
            <a:ext cx="20574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FunASR（语音识别框架） 离线识别生成字幕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69264" y="4187952"/>
            <a:ext cx="237744" cy="237744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206240"/>
            <a:ext cx="237744" cy="1097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16736" y="4169664"/>
            <a:ext cx="20574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 SRT（字幕文件） 字幕文件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69264" y="4736592"/>
            <a:ext cx="237744" cy="237744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754879"/>
            <a:ext cx="237744" cy="1097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16736" y="4718304"/>
            <a:ext cx="20574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字幕写入 transcript_records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60520" y="1353312"/>
            <a:ext cx="68122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1353312"/>
            <a:ext cx="6812280" cy="201168"/>
          </a:xfrm>
          <a:prstGeom prst="rect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33672" y="1412748"/>
            <a:ext cx="50292" cy="50292"/>
          </a:xfrm>
          <a:prstGeom prst="ellipse">
            <a:avLst/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3400" y="1412748"/>
            <a:ext cx="50292" cy="50292"/>
          </a:xfrm>
          <a:prstGeom prst="ellipse">
            <a:avLst/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53128" y="1412748"/>
            <a:ext cx="50292" cy="5029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1380744"/>
            <a:ext cx="630936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History（历史回顾） · 历史课程 / 问答 / 转写 / 字幕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88536" y="1609344"/>
            <a:ext cx="6556248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2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展示历史课程列表、历史问答、转写与视频回放</a:t>
            </a:r>
            <a:endParaRPr sz="92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2135" y="2121535"/>
            <a:ext cx="6462395" cy="34143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课后学习辅助模块设计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>
                <a:latin typeface="宋体" panose="02010600030101010101" pitchFamily="2" charset="-122"/>
              </a:rPr>
              <a:t>自动生成课后笔记、总结测验，并通过 Lesson Copilot（课程学习助手）编排已有工具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25196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815" y="1609090"/>
            <a:ext cx="1857375" cy="31178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自动生成课后笔记</a:t>
            </a:r>
            <a:endParaRPr sz="17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32688" y="199339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输入来源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2688" y="2980944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生成内容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32688" y="3968496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40" y="1938528"/>
            <a:ext cx="265176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C3762"/>
                </a:solidFill>
                <a:latin typeface="宋体" panose="02010600030101010101" pitchFamily="2" charset="-122"/>
              </a:rPr>
              <a:t>• 聚合 lesson（课节）转写记录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200">
                <a:solidFill>
                  <a:srgbClr val="0C3762"/>
                </a:solidFill>
                <a:latin typeface="宋体" panose="02010600030101010101" pitchFamily="2" charset="-122"/>
              </a:rPr>
              <a:t>• 按长度切分上下文</a:t>
            </a:r>
            <a:endParaRPr sz="1200">
              <a:solidFill>
                <a:srgbClr val="0C3762"/>
              </a:solidFill>
              <a:latin typeface="宋体" panose="02010600030101010101" pitchFamily="2" charset="-122"/>
            </a:endParaRPr>
          </a:p>
          <a:p>
            <a:r>
              <a:rPr sz="1200">
                <a:solidFill>
                  <a:srgbClr val="0C3762"/>
                </a:solidFill>
                <a:latin typeface="宋体" panose="02010600030101010101" pitchFamily="2" charset="-122"/>
              </a:rPr>
              <a:t>• 调用 LLM（大语言模型）分块生成</a:t>
            </a:r>
            <a:endParaRPr sz="1200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2926080"/>
            <a:ext cx="265176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2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概览 / 知识点 / 概念解释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2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例子 / 时间线 / 复习重点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3FA6A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02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自测问题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20240" y="3913632"/>
            <a:ext cx="265176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C3762"/>
                </a:solidFill>
                <a:latin typeface="宋体" panose="02010600030101010101" pitchFamily="2" charset="-122"/>
              </a:rPr>
              <a:t>• lesson_notes（笔记表）持久化</a:t>
            </a:r>
            <a:endParaRPr sz="11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200">
                <a:solidFill>
                  <a:srgbClr val="0C3762"/>
                </a:solidFill>
                <a:latin typeface="宋体" panose="02010600030101010101" pitchFamily="2" charset="-122"/>
              </a:rPr>
              <a:t>• StudyLibView（学习资料库页）展示</a:t>
            </a:r>
            <a:endParaRPr sz="1200">
              <a:solidFill>
                <a:srgbClr val="0C3762"/>
              </a:solidFill>
              <a:latin typeface="宋体" panose="02010600030101010101" pitchFamily="2" charset="-122"/>
            </a:endParaRPr>
          </a:p>
          <a:p>
            <a:r>
              <a:rPr sz="1200">
                <a:solidFill>
                  <a:srgbClr val="0C3762"/>
                </a:solidFill>
                <a:latin typeface="宋体" panose="02010600030101010101" pitchFamily="2" charset="-122"/>
              </a:rPr>
              <a:t>• Markdown（标记文本）导出</a:t>
            </a:r>
            <a:endParaRPr sz="1200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30368" y="1371600"/>
            <a:ext cx="576072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7985" y="1609090"/>
            <a:ext cx="1808480" cy="21971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600" b="1">
                <a:solidFill>
                  <a:srgbClr val="143B66"/>
                </a:solidFill>
                <a:latin typeface="宋体" panose="02010600030101010101" pitchFamily="2" charset="-122"/>
              </a:rPr>
              <a:t>Lesson</a:t>
            </a:r>
            <a:r>
              <a:rPr sz="1100">
                <a:latin typeface="宋体" panose="02010600030101010101" pitchFamily="2" charset="-122"/>
              </a:rPr>
              <a:t> </a:t>
            </a:r>
            <a:r>
              <a:rPr sz="1600" b="1">
                <a:solidFill>
                  <a:srgbClr val="143B66"/>
                </a:solidFill>
                <a:latin typeface="宋体" panose="02010600030101010101" pitchFamily="2" charset="-122"/>
              </a:rPr>
              <a:t>Copilot（课程学习助手）</a:t>
            </a:r>
            <a:endParaRPr sz="1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543800" y="2880360"/>
            <a:ext cx="1078992" cy="1078992"/>
          </a:xfrm>
          <a:prstGeom prst="ellipse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3975" y="3269615"/>
            <a:ext cx="873760" cy="29654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宋体" panose="02010600030101010101" pitchFamily="2" charset="-122"/>
              </a:rPr>
              <a:t>Copilot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1700" b="1">
                <a:solidFill>
                  <a:srgbClr val="FFFFFF"/>
                </a:solidFill>
                <a:latin typeface="宋体" panose="02010600030101010101" pitchFamily="2" charset="-122"/>
              </a:rPr>
              <a:t>智能调度核心</a:t>
            </a:r>
            <a:endParaRPr sz="17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cxnSp>
        <p:nvCxnSpPr>
          <p:cNvPr id="19" name="Connector 18"/>
          <p:cNvCxnSpPr>
            <a:endCxn id="20" idx="2"/>
          </p:cNvCxnSpPr>
          <p:nvPr/>
        </p:nvCxnSpPr>
        <p:spPr>
          <a:xfrm flipH="1" flipV="1">
            <a:off x="6423406" y="2578481"/>
            <a:ext cx="1120140" cy="621665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52160" y="2341499"/>
            <a:ext cx="1143000" cy="237744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</a:rPr>
              <a:t>用户请求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 flipV="1">
            <a:off x="7996301" y="1983486"/>
            <a:ext cx="0" cy="887095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24927" y="1719072"/>
            <a:ext cx="1143000" cy="237744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get_lesson_note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获取课程笔记</a:t>
            </a:r>
            <a:endParaRPr sz="75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cxnSp>
        <p:nvCxnSpPr>
          <p:cNvPr id="23" name="Connector 22"/>
          <p:cNvCxnSpPr>
            <a:stCxn id="17" idx="7"/>
            <a:endCxn id="24" idx="2"/>
          </p:cNvCxnSpPr>
          <p:nvPr/>
        </p:nvCxnSpPr>
        <p:spPr>
          <a:xfrm flipV="1">
            <a:off x="8464296" y="2230501"/>
            <a:ext cx="1113790" cy="807720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69680" y="1993392"/>
            <a:ext cx="1417320" cy="237744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generate_lesson_summary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生成课程总结</a:t>
            </a:r>
            <a:endParaRPr sz="75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8567801" y="3675126"/>
            <a:ext cx="1124585" cy="540385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20" y="4069080"/>
            <a:ext cx="1417320" cy="237744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query_lesson_knowledge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查询课程知识</a:t>
            </a:r>
            <a:endParaRPr sz="75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126476" y="3968496"/>
            <a:ext cx="0" cy="676275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61504" y="4645152"/>
            <a:ext cx="1417320" cy="237744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generate_lesson_quiz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生成课程测验</a:t>
            </a:r>
            <a:endParaRPr sz="75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 flipH="1">
            <a:off x="6629146" y="3675126"/>
            <a:ext cx="1005840" cy="439420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846445" y="4114546"/>
            <a:ext cx="1417320" cy="237744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get_lesson_videos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750" b="1">
                <a:solidFill>
                  <a:srgbClr val="FFFFFF"/>
                </a:solidFill>
                <a:latin typeface="宋体" panose="02010600030101010101" pitchFamily="2" charset="-122"/>
              </a:rPr>
              <a:t>获取课程视频</a:t>
            </a:r>
            <a:endParaRPr sz="75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04688" y="5349240"/>
            <a:ext cx="4937760" cy="21945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</a:rPr>
              <a:t>Copilot 根据用户请求决定调用工具，先取上下文再生成结构化回答。</a:t>
            </a:r>
            <a:endParaRPr sz="122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前端交互界面设计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335" y="585470"/>
            <a:ext cx="10486390" cy="20129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100">
                <a:latin typeface="宋体" panose="02010600030101010101" pitchFamily="2" charset="-122"/>
              </a:rPr>
              <a:t>前端包含 LiveView（实时课堂页）、History（历史回顾页）与 StudyLibView（学习资料库页）三个主要页面，覆盖课中到课后</a:t>
            </a:r>
            <a:endParaRPr sz="5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640080" y="1280160"/>
            <a:ext cx="370332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640080" y="1280160"/>
            <a:ext cx="3703320" cy="201168"/>
          </a:xfrm>
          <a:prstGeom prst="rect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>
            <p:custDataLst>
              <p:tags r:id="rId3"/>
            </p:custDataLst>
          </p:nvPr>
        </p:nvSpPr>
        <p:spPr>
          <a:xfrm>
            <a:off x="713232" y="1339596"/>
            <a:ext cx="50292" cy="50292"/>
          </a:xfrm>
          <a:prstGeom prst="ellipse">
            <a:avLst/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4"/>
            </p:custDataLst>
          </p:nvPr>
        </p:nvSpPr>
        <p:spPr>
          <a:xfrm>
            <a:off x="822960" y="1339596"/>
            <a:ext cx="50292" cy="50292"/>
          </a:xfrm>
          <a:prstGeom prst="ellipse">
            <a:avLst/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>
            <p:custDataLst>
              <p:tags r:id="rId5"/>
            </p:custDataLst>
          </p:nvPr>
        </p:nvSpPr>
        <p:spPr>
          <a:xfrm>
            <a:off x="932688" y="1339596"/>
            <a:ext cx="50292" cy="5029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078992" y="1307592"/>
            <a:ext cx="320040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LiveView（实时课堂页） · 实时课堂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768096" y="1536192"/>
            <a:ext cx="3447288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2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Session（会话） 创建、设备选择、录制与课堂问答</a:t>
            </a:r>
            <a:endParaRPr sz="92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8"/>
            </p:custDataLst>
          </p:nvPr>
        </p:nvSpPr>
        <p:spPr>
          <a:xfrm>
            <a:off x="859536" y="4398518"/>
            <a:ext cx="3255264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12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Session（会话） 创建 / 设备选择 / 视频预览 / 实时转写</a:t>
            </a:r>
            <a:endParaRPr sz="112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>
            <p:custDataLst>
              <p:tags r:id="rId9"/>
            </p:custDataLst>
          </p:nvPr>
        </p:nvSpPr>
        <p:spPr>
          <a:xfrm>
            <a:off x="4498848" y="1280160"/>
            <a:ext cx="370332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Rectangle 27"/>
          <p:cNvSpPr/>
          <p:nvPr>
            <p:custDataLst>
              <p:tags r:id="rId10"/>
            </p:custDataLst>
          </p:nvPr>
        </p:nvSpPr>
        <p:spPr>
          <a:xfrm>
            <a:off x="4498848" y="1280160"/>
            <a:ext cx="3703320" cy="201168"/>
          </a:xfrm>
          <a:prstGeom prst="rect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>
            <p:custDataLst>
              <p:tags r:id="rId11"/>
            </p:custDataLst>
          </p:nvPr>
        </p:nvSpPr>
        <p:spPr>
          <a:xfrm>
            <a:off x="4572000" y="1339596"/>
            <a:ext cx="50292" cy="50292"/>
          </a:xfrm>
          <a:prstGeom prst="ellipse">
            <a:avLst/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>
            <p:custDataLst>
              <p:tags r:id="rId12"/>
            </p:custDataLst>
          </p:nvPr>
        </p:nvSpPr>
        <p:spPr>
          <a:xfrm>
            <a:off x="4681728" y="1339596"/>
            <a:ext cx="50292" cy="50292"/>
          </a:xfrm>
          <a:prstGeom prst="ellipse">
            <a:avLst/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>
            <p:custDataLst>
              <p:tags r:id="rId13"/>
            </p:custDataLst>
          </p:nvPr>
        </p:nvSpPr>
        <p:spPr>
          <a:xfrm>
            <a:off x="4791456" y="1339596"/>
            <a:ext cx="50292" cy="5029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14"/>
            </p:custDataLst>
          </p:nvPr>
        </p:nvSpPr>
        <p:spPr>
          <a:xfrm>
            <a:off x="4937760" y="1307592"/>
            <a:ext cx="320040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History（历史回顾） · 历史回顾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15"/>
            </p:custDataLst>
          </p:nvPr>
        </p:nvSpPr>
        <p:spPr>
          <a:xfrm>
            <a:off x="4626864" y="1536192"/>
            <a:ext cx="3447288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2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课程列表、历史问答、字幕与视频回放</a:t>
            </a:r>
            <a:endParaRPr sz="92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TextBox 47"/>
          <p:cNvSpPr txBox="1"/>
          <p:nvPr>
            <p:custDataLst>
              <p:tags r:id="rId16"/>
            </p:custDataLst>
          </p:nvPr>
        </p:nvSpPr>
        <p:spPr>
          <a:xfrm>
            <a:off x="4609084" y="4398518"/>
            <a:ext cx="3255264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12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课程筛选 / 历史问答 / 视频字幕 / 回看追问</a:t>
            </a:r>
            <a:endParaRPr sz="112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Rounded Rectangle 48"/>
          <p:cNvSpPr/>
          <p:nvPr>
            <p:custDataLst>
              <p:tags r:id="rId17"/>
            </p:custDataLst>
          </p:nvPr>
        </p:nvSpPr>
        <p:spPr>
          <a:xfrm>
            <a:off x="8357616" y="1280160"/>
            <a:ext cx="32004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0" name="Rectangle 49"/>
          <p:cNvSpPr/>
          <p:nvPr>
            <p:custDataLst>
              <p:tags r:id="rId18"/>
            </p:custDataLst>
          </p:nvPr>
        </p:nvSpPr>
        <p:spPr>
          <a:xfrm>
            <a:off x="8357616" y="1280160"/>
            <a:ext cx="3200400" cy="201168"/>
          </a:xfrm>
          <a:prstGeom prst="rect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1" name="Oval 50"/>
          <p:cNvSpPr/>
          <p:nvPr>
            <p:custDataLst>
              <p:tags r:id="rId19"/>
            </p:custDataLst>
          </p:nvPr>
        </p:nvSpPr>
        <p:spPr>
          <a:xfrm>
            <a:off x="8430768" y="1339596"/>
            <a:ext cx="50292" cy="50292"/>
          </a:xfrm>
          <a:prstGeom prst="ellipse">
            <a:avLst/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2" name="Oval 51"/>
          <p:cNvSpPr/>
          <p:nvPr>
            <p:custDataLst>
              <p:tags r:id="rId20"/>
            </p:custDataLst>
          </p:nvPr>
        </p:nvSpPr>
        <p:spPr>
          <a:xfrm>
            <a:off x="8540496" y="1339596"/>
            <a:ext cx="50292" cy="50292"/>
          </a:xfrm>
          <a:prstGeom prst="ellipse">
            <a:avLst/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3" name="Oval 52"/>
          <p:cNvSpPr/>
          <p:nvPr>
            <p:custDataLst>
              <p:tags r:id="rId21"/>
            </p:custDataLst>
          </p:nvPr>
        </p:nvSpPr>
        <p:spPr>
          <a:xfrm>
            <a:off x="8650224" y="1339596"/>
            <a:ext cx="50292" cy="50292"/>
          </a:xfrm>
          <a:prstGeom prst="ellipse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4" name="TextBox 53"/>
          <p:cNvSpPr txBox="1"/>
          <p:nvPr>
            <p:custDataLst>
              <p:tags r:id="rId22"/>
            </p:custDataLst>
          </p:nvPr>
        </p:nvSpPr>
        <p:spPr>
          <a:xfrm>
            <a:off x="8796528" y="1307592"/>
            <a:ext cx="269748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StudyLibView（学习资料库页） · 学习资料库</a:t>
            </a:r>
            <a:endParaRPr sz="10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TextBox 54"/>
          <p:cNvSpPr txBox="1"/>
          <p:nvPr>
            <p:custDataLst>
              <p:tags r:id="rId23"/>
            </p:custDataLst>
          </p:nvPr>
        </p:nvSpPr>
        <p:spPr>
          <a:xfrm>
            <a:off x="8485632" y="1536192"/>
            <a:ext cx="2944368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2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课后笔记、Markdown（标记文本） 导出、Copilot</a:t>
            </a:r>
            <a:endParaRPr sz="92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TextBox 66"/>
          <p:cNvSpPr txBox="1"/>
          <p:nvPr>
            <p:custDataLst>
              <p:tags r:id="rId24"/>
            </p:custDataLst>
          </p:nvPr>
        </p:nvSpPr>
        <p:spPr>
          <a:xfrm>
            <a:off x="8421751" y="4398518"/>
            <a:ext cx="2980944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12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课后笔记 / Markdown（标记文本） 导出 / Lesson Copilot（课程学习助手）</a:t>
            </a:r>
            <a:endParaRPr sz="112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528820" y="1856105"/>
            <a:ext cx="3644265" cy="1925955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" y="1856105"/>
            <a:ext cx="3726180" cy="195580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58505" y="1856105"/>
            <a:ext cx="3215640" cy="19329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后端 API（接口） 与服务组织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200">
                <a:latin typeface="宋体" panose="02010600030101010101" pitchFamily="2" charset="-122"/>
              </a:rPr>
              <a:t>FastAPI（后端框架）提供 Session（会话）/ History（历史）/ Audio（音频）/ Asset（资料）/ Video（视频）/ Query（问答）/ Note（笔记）/ Copilot（智能助手）等接口</a:t>
            </a:r>
            <a:endParaRPr sz="12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1371600"/>
            <a:ext cx="461772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16459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接口分组</a:t>
            </a:r>
            <a:endParaRPr sz="17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938655"/>
            <a:ext cx="1143000" cy="324485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00" b="1">
                <a:solidFill>
                  <a:srgbClr val="0C3762"/>
                </a:solidFill>
                <a:latin typeface="宋体" panose="02010600030101010101" pitchFamily="2" charset="-122"/>
              </a:rPr>
              <a:t>Session / History</a:t>
            </a:r>
            <a:endParaRPr sz="98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900" b="1">
                <a:solidFill>
                  <a:srgbClr val="0C3762"/>
                </a:solidFill>
                <a:latin typeface="宋体" panose="02010600030101010101" pitchFamily="2" charset="-122"/>
              </a:rPr>
              <a:t>会话 / 历史</a:t>
            </a:r>
            <a:endParaRPr sz="900" b="1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0280" y="1920240"/>
            <a:ext cx="2697480" cy="3474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/sessions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8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/sessions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8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/sessions/history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8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/sessions/{session_id}/transcripts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2670048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</a:rPr>
              <a:t>实时音频</a:t>
            </a:r>
            <a:endParaRPr sz="98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40280" y="2651760"/>
            <a:ext cx="2697480" cy="3474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WebSocket（实时双向通信） /ws/audio/{session_id}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3236976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</a:rPr>
              <a:t>资料与视频</a:t>
            </a:r>
            <a:endParaRPr sz="98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40280" y="3218688"/>
            <a:ext cx="2697480" cy="3474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7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/sessions/{session_id}/assets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7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/sessions/{session_id}/videos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7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/sessions/videos/{video_id}/file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7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/sessions/videos/{video_id}/srt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4059936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</a:rPr>
              <a:t>问答与生成</a:t>
            </a:r>
            <a:endParaRPr sz="98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40280" y="4041648"/>
            <a:ext cx="2697480" cy="34747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/sessions/{session_id}/query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8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/sessions/{session_id}/summary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8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/sessions/{session_id}/quiz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4629785"/>
            <a:ext cx="1143000" cy="525145"/>
          </a:xfrm>
          <a:prstGeom prst="roundRect">
            <a:avLst>
              <a:gd name="adj" fmla="val 25000"/>
            </a:avLst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</a:rPr>
              <a:t>课后笔记与 Copilot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宋体" panose="02010600030101010101" pitchFamily="2" charset="-122"/>
              </a:rPr>
              <a:t>课程助手</a:t>
            </a:r>
            <a:endParaRPr sz="1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18995" y="4760595"/>
            <a:ext cx="3270885" cy="8648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7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/lessons/{course_id}/{lesson_id}/notes/generate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7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/lessons/{course_id}/{lesson_id}/notes/latest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7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/lessons/{course_id}/{lesson_id}/copilot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532120" y="1371600"/>
            <a:ext cx="603885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627632"/>
            <a:ext cx="18288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6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服务调用链路</a:t>
            </a:r>
            <a:endParaRPr sz="17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88736" y="2322576"/>
            <a:ext cx="1078992" cy="658368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8" y="2542032"/>
            <a:ext cx="932688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06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前端请求</a:t>
            </a:r>
            <a:endParaRPr sz="116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67091" y="2321941"/>
            <a:ext cx="1078992" cy="658368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6273" y="2542667"/>
            <a:ext cx="932688" cy="1645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900" b="1">
                <a:solidFill>
                  <a:srgbClr val="0C3762"/>
                </a:solidFill>
                <a:latin typeface="宋体" panose="02010600030101010101" pitchFamily="2" charset="-122"/>
              </a:rPr>
              <a:t>API 路由</a:t>
            </a:r>
            <a:endParaRPr sz="116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900" b="1">
                <a:solidFill>
                  <a:srgbClr val="0C3762"/>
                </a:solidFill>
                <a:latin typeface="宋体" panose="02010600030101010101" pitchFamily="2" charset="-122"/>
              </a:rPr>
              <a:t>接口分发</a:t>
            </a:r>
            <a:endParaRPr sz="900" b="1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901049" y="2322576"/>
            <a:ext cx="1078992" cy="658368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0711" y="2542667"/>
            <a:ext cx="932688" cy="1645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900" b="1">
                <a:solidFill>
                  <a:srgbClr val="0C3762"/>
                </a:solidFill>
                <a:latin typeface="宋体" panose="02010600030101010101" pitchFamily="2" charset="-122"/>
              </a:rPr>
              <a:t>Service</a:t>
            </a:r>
            <a:endParaRPr sz="116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900" b="1">
                <a:solidFill>
                  <a:srgbClr val="0C3762"/>
                </a:solidFill>
                <a:latin typeface="宋体" panose="02010600030101010101" pitchFamily="2" charset="-122"/>
              </a:rPr>
              <a:t>业务服务</a:t>
            </a:r>
            <a:endParaRPr sz="900" b="1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369296" y="2322576"/>
            <a:ext cx="1078992" cy="658368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5260" y="2541905"/>
            <a:ext cx="11404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900" b="1">
                <a:solidFill>
                  <a:srgbClr val="0C3762"/>
                </a:solidFill>
                <a:latin typeface="宋体" panose="02010600030101010101" pitchFamily="2" charset="-122"/>
              </a:rPr>
              <a:t>Storage</a:t>
            </a:r>
            <a:endParaRPr sz="116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900" b="1">
                <a:solidFill>
                  <a:srgbClr val="0C3762"/>
                </a:solidFill>
                <a:latin typeface="宋体" panose="02010600030101010101" pitchFamily="2" charset="-122"/>
              </a:rPr>
              <a:t>数据存储</a:t>
            </a:r>
            <a:endParaRPr sz="900" b="1">
              <a:solidFill>
                <a:srgbClr val="0C3762"/>
              </a:solidFill>
              <a:latin typeface="宋体" panose="02010600030101010101" pitchFamily="2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 flipV="1">
            <a:off x="6967728" y="2642870"/>
            <a:ext cx="499110" cy="8890"/>
          </a:xfrm>
          <a:prstGeom prst="line">
            <a:avLst/>
          </a:prstGeom>
          <a:ln w="1905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endCxn id="25" idx="1"/>
          </p:cNvCxnSpPr>
          <p:nvPr/>
        </p:nvCxnSpPr>
        <p:spPr>
          <a:xfrm>
            <a:off x="8561324" y="2642870"/>
            <a:ext cx="339725" cy="8890"/>
          </a:xfrm>
          <a:prstGeom prst="line">
            <a:avLst/>
          </a:prstGeom>
          <a:ln w="1905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979406" y="2651760"/>
            <a:ext cx="389890" cy="0"/>
          </a:xfrm>
          <a:prstGeom prst="line">
            <a:avLst/>
          </a:prstGeom>
          <a:ln w="19050">
            <a:solidFill>
              <a:srgbClr val="36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25312" y="3401568"/>
            <a:ext cx="475488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600">
                <a:latin typeface="宋体" panose="02010600030101010101" pitchFamily="2" charset="-122"/>
              </a:rPr>
              <a:t>典型链路 1：/sessions/{session_id}/query → RAG（检索增强生成）服务检索 → 组织 Prompt（提示词） → LLM（大语言模型）生成回答。</a:t>
            </a:r>
            <a:endParaRPr sz="16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600">
                <a:latin typeface="宋体" panose="02010600030101010101" pitchFamily="2" charset="-122"/>
              </a:rPr>
              <a:t>典型链路 2：/sessions/{session_id}/videos → 视频服务 → FFmpeg（音视频处理）/ FunASR（语音识别） → lesson_videos（视频表）+ transcript_records（转写表）。</a:t>
            </a:r>
            <a:endParaRPr sz="16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关键技术与实现难点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项目重点在于将多项 AI 能力以工程化方式集成到课堂学习场景中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1444752"/>
            <a:ext cx="108356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10972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3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难点</a:t>
            </a:r>
            <a:endParaRPr sz="14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6120" y="1700784"/>
            <a:ext cx="18288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3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具体问题</a:t>
            </a:r>
            <a:endParaRPr sz="14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69480" y="1700784"/>
            <a:ext cx="18288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3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解决方式</a:t>
            </a:r>
            <a:endParaRPr sz="14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6112" y="2139696"/>
            <a:ext cx="1024128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实时音频流处理</a:t>
            </a:r>
            <a:endParaRPr sz="98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12848" y="2103120"/>
            <a:ext cx="45262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200">
                <a:latin typeface="+mn-lt"/>
                <a:ea typeface="+mn-lt"/>
                <a:cs typeface="+mn-lt"/>
                <a:sym typeface="+mn-ea"/>
              </a:rPr>
              <a:t>WebSocket（实时双向通信）持续传输音频，需要处理分帧、VAD（语音活动检测）、ASR（自动语音识别）、连接状态与资源释放。</a:t>
            </a:r>
            <a:endParaRPr sz="1200">
              <a:latin typeface="+mn-lt"/>
              <a:ea typeface="+mn-lt"/>
              <a:cs typeface="+mn-lt"/>
              <a:sym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05472" y="2103120"/>
            <a:ext cx="38862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1200">
                <a:latin typeface="+mn-lt"/>
                <a:ea typeface="+mn-lt"/>
                <a:cs typeface="+mn-lt"/>
              </a:rPr>
              <a:t>封装 RealtimeSpeechService（实时语音服务）与 StreamProcessor（流处理器），管理 session（会话）生命周期与尾部 flush（尾部刷新）。</a:t>
            </a:r>
            <a:endParaRPr sz="1200" b="0">
              <a:solidFill>
                <a:srgbClr val="28436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5985" y="2959100"/>
            <a:ext cx="1195705" cy="269240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课堂知识统一建模</a:t>
            </a:r>
            <a:endParaRPr sz="98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12848" y="2971800"/>
            <a:ext cx="45262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200">
                <a:latin typeface="+mn-lt"/>
                <a:ea typeface="+mn-lt"/>
                <a:cs typeface="+mn-lt"/>
                <a:sym typeface="+mn-ea"/>
              </a:rPr>
              <a:t>多源内容格式不一致，语音、视频字幕、OCR（文字识别）/ VLM（视觉语言模型）、资料解析结果难以统一。</a:t>
            </a:r>
            <a:endParaRPr sz="1200">
              <a:latin typeface="+mn-lt"/>
              <a:ea typeface="+mn-lt"/>
              <a:cs typeface="+mn-lt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05472" y="2971800"/>
            <a:ext cx="38862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200">
                <a:latin typeface="+mn-lt"/>
                <a:ea typeface="+mn-lt"/>
                <a:cs typeface="+mn-lt"/>
                <a:sym typeface="+mn-ea"/>
              </a:rPr>
              <a:t>统一转换为 TranscriptRecord（转写记录），并附带 source_type（来源类型）/ course_id（课程标识）/ lesson_id（课节标识）等元数据。</a:t>
            </a:r>
            <a:endParaRPr sz="1200">
              <a:latin typeface="+mn-lt"/>
              <a:ea typeface="+mn-lt"/>
              <a:cs typeface="+mn-lt"/>
              <a:sym typeface="+mn-e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6112" y="3877055"/>
            <a:ext cx="1024128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检索范围控制</a:t>
            </a:r>
            <a:endParaRPr sz="98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12848" y="3840479"/>
            <a:ext cx="45262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200">
                <a:latin typeface="+mn-lt"/>
                <a:ea typeface="+mn-lt"/>
                <a:cs typeface="+mn-lt"/>
                <a:sym typeface="+mn-ea"/>
              </a:rPr>
              <a:t>当前课、历史课、全局知识库的检索边界不同。</a:t>
            </a:r>
            <a:endParaRPr sz="1200">
              <a:latin typeface="+mn-lt"/>
              <a:ea typeface="+mn-lt"/>
              <a:cs typeface="+mn-lt"/>
              <a:sym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05472" y="3840479"/>
            <a:ext cx="38862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200">
                <a:latin typeface="+mn-lt"/>
                <a:ea typeface="+mn-lt"/>
                <a:cs typeface="+mn-lt"/>
                <a:sym typeface="+mn-ea"/>
              </a:rPr>
              <a:t>基于 course_</a:t>
            </a:r>
            <a:r>
              <a:rPr sz="1200">
                <a:latin typeface="+mn-lt"/>
                <a:ea typeface="+mn-lt"/>
                <a:cs typeface="+mn-lt"/>
                <a:sym typeface="+mn-ea"/>
              </a:rPr>
              <a:t>id</a:t>
            </a:r>
            <a:r>
              <a:rPr sz="1200">
                <a:latin typeface="+mn-lt"/>
                <a:ea typeface="+mn-lt"/>
                <a:cs typeface="+mn-lt"/>
                <a:sym typeface="+mn-ea"/>
              </a:rPr>
              <a:t>（课程标识）、lesson_id（课节标识）构建 Qdrant metadata filter（元数据过滤器），支持多种 scope（检索范围）。</a:t>
            </a:r>
            <a:endParaRPr sz="1200">
              <a:latin typeface="+mn-lt"/>
              <a:ea typeface="+mn-lt"/>
              <a:cs typeface="+mn-lt"/>
              <a:sym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5985" y="4681855"/>
            <a:ext cx="1024255" cy="283845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课后生成结果结构化</a:t>
            </a:r>
            <a:endParaRPr sz="98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12848" y="4709159"/>
            <a:ext cx="45262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200">
                <a:latin typeface="+mn-lt"/>
                <a:ea typeface="+mn-lt"/>
                <a:cs typeface="+mn-lt"/>
                <a:sym typeface="+mn-ea"/>
              </a:rPr>
              <a:t>LLM（大语言模型） 输出可能不稳定，难以直接给前端消费。</a:t>
            </a:r>
            <a:endParaRPr sz="1200">
              <a:latin typeface="+mn-lt"/>
              <a:ea typeface="+mn-lt"/>
              <a:cs typeface="+mn-lt"/>
              <a:sym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05472" y="4709159"/>
            <a:ext cx="38862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200">
                <a:latin typeface="+mn-lt"/>
                <a:ea typeface="+mn-lt"/>
                <a:cs typeface="+mn-lt"/>
                <a:sym typeface="+mn-ea"/>
              </a:rPr>
              <a:t>设计结构化 </a:t>
            </a:r>
            <a:r>
              <a:rPr sz="1200">
                <a:latin typeface="+mn-lt"/>
                <a:ea typeface="+mn-lt"/>
                <a:cs typeface="+mn-lt"/>
                <a:sym typeface="+mn-ea"/>
              </a:rPr>
              <a:t>Prompt</a:t>
            </a:r>
            <a:r>
              <a:rPr sz="1200">
                <a:latin typeface="+mn-lt"/>
                <a:ea typeface="+mn-lt"/>
                <a:cs typeface="+mn-lt"/>
                <a:sym typeface="+mn-ea"/>
              </a:rPr>
              <a:t>（提示词），要求 JSON（结构化</a:t>
            </a:r>
            <a:r>
              <a:rPr sz="1200">
                <a:latin typeface="+mn-lt"/>
                <a:ea typeface="+mn-lt"/>
                <a:cs typeface="+mn-lt"/>
                <a:sym typeface="+mn-ea"/>
              </a:rPr>
              <a:t>数据</a:t>
            </a:r>
            <a:r>
              <a:rPr sz="1200">
                <a:latin typeface="+mn-lt"/>
                <a:ea typeface="+mn-lt"/>
                <a:cs typeface="+mn-lt"/>
                <a:sym typeface="+mn-ea"/>
              </a:rPr>
              <a:t>格式）输出，并在后端进行归一化与容错处理。</a:t>
            </a:r>
            <a:endParaRPr sz="1200">
              <a:latin typeface="+mn-lt"/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系统测试与验证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测试覆盖后端服务、前端工程检查与 RAG（检索增强生成） 小样例链路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6384" y="1408176"/>
            <a:ext cx="33101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408176"/>
            <a:ext cx="73152" cy="749808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815" y="1572895"/>
            <a:ext cx="2386965" cy="1644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9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87 个 pytest（Python测试框架） 测试点</a:t>
            </a:r>
            <a:endParaRPr sz="9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1859407"/>
            <a:ext cx="2907792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8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源码中可见 tests 用例定义</a:t>
            </a:r>
            <a:endParaRPr sz="98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9704" y="1408176"/>
            <a:ext cx="33101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4" y="1408176"/>
            <a:ext cx="73152" cy="749808"/>
          </a:xfrm>
          <a:prstGeom prst="rect">
            <a:avLst/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135" y="1572895"/>
            <a:ext cx="2080260" cy="1644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/>
            <a:r>
              <a:rPr sz="8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vue-tsc（类型检查工具） / Vite（构建工具） build（生产构建）</a:t>
            </a:r>
            <a:endParaRPr sz="8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07792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8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前端类型检查与构建脚本</a:t>
            </a:r>
            <a:endParaRPr sz="98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93023" y="1408176"/>
            <a:ext cx="33101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3" y="1408176"/>
            <a:ext cx="73152" cy="749808"/>
          </a:xfrm>
          <a:prstGeom prst="rect">
            <a:avLst/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455" y="1572895"/>
            <a:ext cx="2671445" cy="2533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2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demo transcript + eval cases</a:t>
            </a:r>
            <a:endParaRPr sz="132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7" y="1810512"/>
            <a:ext cx="2907792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8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RAG（检索增强生成） / 笔记 / 摘要 / lesson copilot</a:t>
            </a:r>
            <a:endParaRPr sz="98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6384" y="2487168"/>
            <a:ext cx="6492240" cy="2907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724912"/>
            <a:ext cx="118872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测试类型</a:t>
            </a:r>
            <a:endParaRPr sz="13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78608" y="2724912"/>
            <a:ext cx="14630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测试内容</a:t>
            </a:r>
            <a:endParaRPr sz="13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05856" y="2724912"/>
            <a:ext cx="10058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2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结果说明</a:t>
            </a:r>
            <a:endParaRPr sz="13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9264" y="3054096"/>
            <a:ext cx="123444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20" b="1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后端测试</a:t>
            </a:r>
            <a:endParaRPr sz="1120" b="1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78608" y="3054096"/>
            <a:ext cx="26974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RAG（检索增强生成） 服务、转写存储、视频字幕、Session（会话） 管理、Lesson Note、Lesson Copilot（课程学习助手）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05856" y="3054096"/>
            <a:ext cx="141732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源码中共 87 个 pytest（Python测试框架） 测试点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9264" y="3621024"/>
            <a:ext cx="123444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20" b="1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前端类型检查</a:t>
            </a:r>
            <a:endParaRPr sz="1120" b="1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78608" y="3621024"/>
            <a:ext cx="26974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 vue-tsc（类型检查工具） 进行类型检查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05856" y="3621024"/>
            <a:ext cx="141732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已配置 npm run type-check 脚本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9264" y="4187952"/>
            <a:ext cx="123444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20" b="1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前端生产构建</a:t>
            </a:r>
            <a:endParaRPr sz="1120" b="1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78608" y="4187952"/>
            <a:ext cx="26974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 Vite（构建工具） 构建生产包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05856" y="4187952"/>
            <a:ext cx="141732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已配置 npm run build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9264" y="4754879"/>
            <a:ext cx="123444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20" b="1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RAG（检索增强生成） 小样例评测</a:t>
            </a:r>
            <a:endParaRPr sz="1120" b="1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78608" y="4754879"/>
            <a:ext cx="26974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 transcript / eval cases 验证检索链路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05856" y="4754879"/>
            <a:ext cx="141732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检索链路与生成流程可跑通</a:t>
            </a:r>
            <a:endParaRPr sz="11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479792" y="2487168"/>
            <a:ext cx="3703320" cy="2907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24912"/>
            <a:ext cx="164592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3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脚本与路径示例</a:t>
            </a:r>
            <a:endParaRPr sz="14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735824" y="3054096"/>
            <a:ext cx="1965960" cy="201168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pytest（Python测试框架） tests/test_rag*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735824" y="3493008"/>
            <a:ext cx="1965960" cy="201168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pytest（Python测试框架） tests/test_video*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735824" y="3931920"/>
            <a:ext cx="1965960" cy="201168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pytest（Python测试框架） tests/test_lesson*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735824" y="4370831"/>
            <a:ext cx="1965960" cy="201168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npm run type-check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735824" y="4809744"/>
            <a:ext cx="1965960" cy="201168"/>
          </a:xfrm>
          <a:prstGeom prst="roundRect">
            <a:avLst>
              <a:gd name="adj" fmla="val 25000"/>
            </a:avLst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npm run build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754112" y="5376672"/>
            <a:ext cx="29718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注：本页依据源码结构、测试目录与脚本配置进行归纳。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项目特色与创新点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特色集中在课堂场景闭环、多源数据统一组织、RAG（检索增强生成） 问答与工程化实现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38852" y="2953639"/>
            <a:ext cx="1325880" cy="1325880"/>
          </a:xfrm>
          <a:prstGeom prst="ellipse">
            <a:avLst/>
          </a:prstGeom>
          <a:solidFill>
            <a:srgbClr val="143B66"/>
          </a:solidFill>
          <a:ln>
            <a:solidFill>
              <a:srgbClr val="14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0000" y="3183425"/>
            <a:ext cx="1560000" cy="78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宋体" panose="02010600030101010101" pitchFamily="2" charset="-122"/>
              </a:rPr>
              <a:t>智课枢</a:t>
            </a:r>
            <a:endParaRPr lang="zh-CN" sz="1500" b="1">
              <a:solidFill>
                <a:srgbClr val="FFFFFF"/>
              </a:solidFill>
              <a:latin typeface="宋体" panose="02010600030101010101" pitchFamily="2" charset="-122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宋体" panose="02010600030101010101" pitchFamily="2" charset="-122"/>
              </a:rPr>
              <a:t>课堂智能体</a:t>
            </a:r>
            <a:endParaRPr sz="15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cxnSp>
        <p:nvCxnSpPr>
          <p:cNvPr id="9" name="Connector 8"/>
          <p:cNvCxnSpPr>
            <a:stCxn id="7" idx="1"/>
          </p:cNvCxnSpPr>
          <p:nvPr/>
        </p:nvCxnSpPr>
        <p:spPr>
          <a:xfrm flipH="1" flipV="1">
            <a:off x="2194560" y="1902206"/>
            <a:ext cx="3038475" cy="1245235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" y="1481328"/>
            <a:ext cx="25146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8390" y="1584960"/>
            <a:ext cx="868680" cy="225425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9000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宋体" panose="02010600030101010101" pitchFamily="2" charset="-122"/>
              </a:rPr>
              <a:t>完整学习闭环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" y="1977009"/>
            <a:ext cx="219456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从课中记录延伸到历史回顾与课后复习，不止是语音转写。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4" name="Connector 13"/>
          <p:cNvCxnSpPr>
            <a:stCxn id="7" idx="0"/>
          </p:cNvCxnSpPr>
          <p:nvPr/>
        </p:nvCxnSpPr>
        <p:spPr>
          <a:xfrm flipV="1">
            <a:off x="5701665" y="2131441"/>
            <a:ext cx="0" cy="821690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57700" y="1170305"/>
            <a:ext cx="2514600" cy="9613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1685" y="1278255"/>
            <a:ext cx="904240" cy="206375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</a:rPr>
              <a:t>多源数据统一</a:t>
            </a:r>
            <a:endParaRPr sz="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17592" y="1664208"/>
            <a:ext cx="219456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语音、视频、资料、视觉识别结果统一进入 transcript 体系。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9" name="Connector 18"/>
          <p:cNvCxnSpPr>
            <a:stCxn id="7" idx="7"/>
          </p:cNvCxnSpPr>
          <p:nvPr/>
        </p:nvCxnSpPr>
        <p:spPr>
          <a:xfrm flipV="1">
            <a:off x="6170295" y="1902206"/>
            <a:ext cx="3385185" cy="1245235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21040" y="1481328"/>
            <a:ext cx="25146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49310" y="1609090"/>
            <a:ext cx="935990" cy="201295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宋体" panose="02010600030101010101" pitchFamily="2" charset="-122"/>
              </a:rPr>
              <a:t>本地优先设计</a:t>
            </a:r>
            <a:endParaRPr sz="6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49056" y="1985899"/>
            <a:ext cx="2194560" cy="23774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l"/>
            <a:r>
              <a:rPr sz="900">
                <a:solidFill>
                  <a:srgbClr val="0C3762"/>
                </a:solidFill>
                <a:latin typeface="宋体" panose="02010600030101010101" pitchFamily="2" charset="-122"/>
              </a:rPr>
              <a:t>ASR（语音识别）、Embedding（文本向量化）、Qdrant（向量库）支持本地运行，适合校园与个人场景。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4" name="Connector 23"/>
          <p:cNvCxnSpPr>
            <a:stCxn id="7" idx="3"/>
          </p:cNvCxnSpPr>
          <p:nvPr/>
        </p:nvCxnSpPr>
        <p:spPr>
          <a:xfrm flipH="1">
            <a:off x="3442970" y="4085336"/>
            <a:ext cx="1790065" cy="783590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8370" y="4437126"/>
            <a:ext cx="25146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88390" y="4496435"/>
            <a:ext cx="1081405" cy="309245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90000" lnSpcReduction="20000"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宋体" panose="02010600030101010101" pitchFamily="2" charset="-122"/>
              </a:rPr>
              <a:t>RAG 上下文回答</a:t>
            </a:r>
            <a:endParaRPr lang="zh-CN"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sz="850" b="1">
                <a:solidFill>
                  <a:srgbClr val="FFFFFF"/>
                </a:solidFill>
                <a:latin typeface="宋体" panose="02010600030101010101" pitchFamily="2" charset="-122"/>
              </a:rPr>
              <a:t>检索增强生成</a:t>
            </a:r>
            <a:endParaRPr sz="85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88136" y="4869307"/>
            <a:ext cx="219456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回答基于课堂知识库，降低普通大模型脱离上下文的问题。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9" name="Connector 28"/>
          <p:cNvCxnSpPr>
            <a:stCxn id="7" idx="5"/>
            <a:endCxn id="30" idx="1"/>
          </p:cNvCxnSpPr>
          <p:nvPr/>
        </p:nvCxnSpPr>
        <p:spPr>
          <a:xfrm>
            <a:off x="6170295" y="4084701"/>
            <a:ext cx="2020570" cy="720725"/>
          </a:xfrm>
          <a:prstGeom prst="line">
            <a:avLst/>
          </a:prstGeom>
          <a:ln w="19050">
            <a:solidFill>
              <a:srgbClr val="C6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90865" y="4288790"/>
            <a:ext cx="2501265" cy="103314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0786" y="4437507"/>
            <a:ext cx="868680" cy="201168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宋体" panose="02010600030101010101" pitchFamily="2" charset="-122"/>
              </a:rPr>
              <a:t>工程化实现</a:t>
            </a:r>
            <a:endParaRPr sz="9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0456" y="4736592"/>
            <a:ext cx="219456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96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前后端分离、数据持久化、测试组织完整，可运行、可演示、可扩展。</a:t>
            </a:r>
            <a:endParaRPr sz="106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0584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25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不足与展望</a:t>
            </a:r>
            <a:endParaRPr sz="26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585216"/>
            <a:ext cx="104241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0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当前版本已形成可运行原型，但在模型加载、评测规模、体验与权限能力方面仍可完善</a:t>
            </a:r>
            <a:endParaRPr sz="11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972800" cy="25400"/>
          </a:xfrm>
          <a:prstGeom prst="rect">
            <a:avLst/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85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Study Agent · 中国计算机设计大赛答辩</a:t>
            </a:r>
            <a:endParaRPr sz="95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r"/>
            <a:r>
              <a:rPr sz="900" b="0">
                <a:solidFill>
                  <a:srgbClr val="6C8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1000" b="0">
              <a:solidFill>
                <a:srgbClr val="6C8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749808" y="1371600"/>
            <a:ext cx="51663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2"/>
            </p:custDataLst>
          </p:nvPr>
        </p:nvSpPr>
        <p:spPr>
          <a:xfrm>
            <a:off x="6126480" y="1371600"/>
            <a:ext cx="51663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969010" y="1627505"/>
            <a:ext cx="1223645" cy="3276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当前不足</a:t>
            </a:r>
            <a:endParaRPr sz="18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346190" y="1627505"/>
            <a:ext cx="1203325" cy="3276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70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未来改进</a:t>
            </a:r>
            <a:endParaRPr sz="180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969264" y="2084831"/>
            <a:ext cx="4434840" cy="173545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b="1">
                <a:solidFill>
                  <a:srgbClr val="36AA7E"/>
                </a:solidFill>
                <a:sym typeface="+mn-ea"/>
              </a:rPr>
              <a:t>•</a:t>
            </a:r>
            <a:r>
              <a:rPr>
                <a:solidFill>
                  <a:srgbClr val="284360"/>
                </a:solidFill>
                <a:sym typeface="+mn-ea"/>
              </a:rPr>
              <a:t> 部分模型加载较慢，ASR（自动语音识别）/ OCR（文字识别）/ VLM（视觉语言模型）首次启动耗时较长。</a:t>
            </a:r>
            <a:endParaRPr>
              <a:solidFill>
                <a:srgbClr val="284360"/>
              </a:solidFill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olidFill>
                <a:srgbClr val="284360"/>
              </a:solidFill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b="1">
                <a:solidFill>
                  <a:srgbClr val="36AA7E"/>
                </a:solidFill>
                <a:sym typeface="+mn-ea"/>
              </a:rPr>
              <a:t>•</a:t>
            </a:r>
            <a:r>
              <a:rPr>
                <a:solidFill>
                  <a:srgbClr val="284360"/>
                </a:solidFill>
                <a:sym typeface="+mn-ea"/>
              </a:rPr>
              <a:t> 真实课堂评测数据仍不够丰富，需要更多样本评估 ASR（语音识别）与 RAG（检索增强生成）表现。</a:t>
            </a:r>
            <a:endParaRPr>
              <a:solidFill>
                <a:srgbClr val="284360"/>
              </a:solidFill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olidFill>
                <a:srgbClr val="284360"/>
              </a:solidFill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b="1">
                <a:solidFill>
                  <a:srgbClr val="36AA7E"/>
                </a:solidFill>
                <a:sym typeface="+mn-ea"/>
              </a:rPr>
              <a:t>•</a:t>
            </a:r>
            <a:r>
              <a:rPr>
                <a:solidFill>
                  <a:srgbClr val="284360"/>
                </a:solidFill>
                <a:sym typeface="+mn-ea"/>
              </a:rPr>
              <a:t> 用户体验仍有优化</a:t>
            </a:r>
            <a:r>
              <a:rPr>
                <a:solidFill>
                  <a:srgbClr val="284360"/>
                </a:solidFill>
                <a:sym typeface="+mn-ea"/>
              </a:rPr>
              <a:t>空间</a:t>
            </a:r>
            <a:r>
              <a:rPr>
                <a:solidFill>
                  <a:srgbClr val="284360"/>
                </a:solidFill>
                <a:sym typeface="+mn-ea"/>
              </a:rPr>
              <a:t>，例如移动端适配、错误提示与进度展示。</a:t>
            </a:r>
            <a:endParaRPr>
              <a:solidFill>
                <a:srgbClr val="284360"/>
              </a:solidFill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olidFill>
                <a:srgbClr val="284360"/>
              </a:solidFill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b="1">
                <a:solidFill>
                  <a:srgbClr val="36AA7E"/>
                </a:solidFill>
                <a:sym typeface="+mn-ea"/>
              </a:rPr>
              <a:t>•</a:t>
            </a:r>
            <a:r>
              <a:rPr>
                <a:solidFill>
                  <a:srgbClr val="284360"/>
                </a:solidFill>
                <a:sym typeface="+mn-ea"/>
              </a:rPr>
              <a:t> 多用户与权限能力不足，目前更适合本地单机或小</a:t>
            </a:r>
            <a:r>
              <a:rPr>
                <a:solidFill>
                  <a:srgbClr val="284360"/>
                </a:solidFill>
                <a:sym typeface="+mn-ea"/>
              </a:rPr>
              <a:t>范围使用。</a:t>
            </a:r>
            <a:endParaRPr>
              <a:solidFill>
                <a:srgbClr val="284360"/>
              </a:solidFill>
              <a:sym typeface="+mn-ea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345936" y="2084831"/>
            <a:ext cx="4434840" cy="173545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引入学习画像与个性化复习推荐。</a:t>
            </a:r>
            <a:endParaRPr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b="1">
              <a:solidFill>
                <a:srgbClr val="36AA7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增加错题本、知识卡片与复习计划。</a:t>
            </a:r>
            <a:endParaRPr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b="1">
              <a:solidFill>
                <a:srgbClr val="36AA7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增强跨课程知识关联与追问能力。</a:t>
            </a:r>
            <a:endParaRPr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b="1">
              <a:solidFill>
                <a:srgbClr val="36AA7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优化模型加载流程与异步任务队列。</a:t>
            </a:r>
            <a:endParaRPr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b="1">
              <a:solidFill>
                <a:srgbClr val="36AA7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36AA7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补充更完整的部署方案与权限隔离。</a:t>
            </a:r>
            <a:endParaRPr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500" b="1">
                <a:solidFill>
                  <a:srgbClr val="72C9D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总结</a:t>
            </a:r>
            <a:endParaRPr sz="1600" b="1">
              <a:solidFill>
                <a:srgbClr val="72C9D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5514975" cy="789305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智课枢</a:t>
            </a:r>
            <a:r>
              <a:rPr sz="23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（课堂学习智能体）：将课堂内容转化为可检索、</a:t>
            </a:r>
            <a:endParaRPr sz="2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23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可追问、可复习的学习资产</a:t>
            </a:r>
            <a:endParaRPr sz="2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16328"/>
            <a:ext cx="4937760" cy="9601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120" b="0">
                <a:solidFill>
                  <a:srgbClr val="E0E8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本课题设计并实现了一个面向课堂学习场景的智能学习助手系统。</a:t>
            </a:r>
            <a:endParaRPr sz="1320" b="0">
              <a:solidFill>
                <a:srgbClr val="E0E8F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1120" b="0">
                <a:solidFill>
                  <a:srgbClr val="E0E8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系统通过实时语音识别、资料解析、视频字幕、RAG（检索增强生成） 问答、历史回顾与课后学习生成等模块，将课堂内容沉淀为统一知识资产。</a:t>
            </a:r>
            <a:endParaRPr sz="1320" b="0">
              <a:solidFill>
                <a:srgbClr val="E0E8F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3108960"/>
            <a:ext cx="54864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383280"/>
            <a:ext cx="10972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sz="1450" b="1">
                <a:solidFill>
                  <a:srgbClr val="143B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主要工作</a:t>
            </a:r>
            <a:endParaRPr sz="1550" b="1">
              <a:solidFill>
                <a:srgbClr val="143B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2688" y="3730752"/>
            <a:ext cx="4754880" cy="1005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完成前后端分离的系统架构设计。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实现实时语音转写与 WebSocket（实时双向通信） 音频处理链路。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实现课堂内容持久化和 RAG（检索增强生成） 检索问答。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实现视频字幕、历史回顾、课后笔记和 Lesson Copilot（课程学习助手）。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672D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sz="1200" b="0">
                <a:solidFill>
                  <a:srgbClr val="2843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系统具备运行、演示和扩展能力。</a:t>
            </a:r>
            <a:endParaRPr sz="1200" b="0">
              <a:solidFill>
                <a:srgbClr val="28436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2057400"/>
            <a:ext cx="2377440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感谢各位老师指导</a:t>
            </a:r>
            <a:endParaRPr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0" y="2487168"/>
            <a:ext cx="201168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ctr"/>
            <a:r>
              <a:rPr sz="1900" b="1">
                <a:solidFill>
                  <a:srgbClr val="72C9D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请批评指正</a:t>
            </a:r>
            <a:endParaRPr sz="2000" b="1">
              <a:solidFill>
                <a:srgbClr val="72C9D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63840" y="431596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实时转写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89719" y="431596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知识库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63840" y="4663440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6AA7E"/>
          </a:solidFill>
          <a:ln>
            <a:solidFill>
              <a:srgbClr val="36A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历史回顾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89719" y="4663440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E9230"/>
          </a:solidFill>
          <a:ln>
            <a:solidFill>
              <a:srgbClr val="EE9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lnSpcReduction="10000"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</a:t>
            </a:r>
            <a:r>
              <a:rPr lang="en-US"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问答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63840" y="5010912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3672D9"/>
          </a:solidFill>
          <a:ln>
            <a:solidFill>
              <a:srgbClr val="367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课后笔记</a:t>
            </a:r>
            <a:endParaRPr sz="1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89720" y="5010785"/>
            <a:ext cx="1077595" cy="255270"/>
          </a:xfrm>
          <a:prstGeom prst="roundRect">
            <a:avLst>
              <a:gd name="adj" fmla="val 25000"/>
            </a:avLst>
          </a:prstGeom>
          <a:solidFill>
            <a:srgbClr val="3FA6AA"/>
          </a:solidFill>
          <a:ln>
            <a:solidFill>
              <a:srgbClr val="3FA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 fontScale="25000"/>
          </a:bodyPr>
          <a:lstStyle/>
          <a:p>
            <a:pPr algn="ctr"/>
            <a:r>
              <a:rPr sz="4000">
                <a:latin typeface="宋体" panose="02010600030101010101" pitchFamily="2" charset="-122"/>
              </a:rPr>
              <a:t>Copilot</a:t>
            </a:r>
            <a:endParaRPr sz="40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4000">
                <a:latin typeface="宋体" panose="02010600030101010101" pitchFamily="2" charset="-122"/>
              </a:rPr>
              <a:t> </a:t>
            </a:r>
            <a:r>
              <a:rPr sz="4000">
                <a:latin typeface="宋体" panose="02010600030101010101" pitchFamily="2" charset="-122"/>
              </a:rPr>
              <a:t>智能调度核心</a:t>
            </a:r>
            <a:endParaRPr sz="40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3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4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5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6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7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8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9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0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1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2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3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4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5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6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7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8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19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0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1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2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3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4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5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6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7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8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29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30.xml><?xml version="1.0" encoding="utf-8"?>
<p:tagLst xmlns:p="http://schemas.openxmlformats.org/presentationml/2006/main">
  <p:tag name="KSO_WM_DIAGRAM_VIRTUALLY_FRAME" val="{&quot;height&quot;:282.2399212598425,&quot;left&quot;:68.4,&quot;top&quot;:118.8,&quot;width&quot;:676.08}"/>
</p:tagLst>
</file>

<file path=ppt/tags/tag31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32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33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34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35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36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37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38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39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0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1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2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3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4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5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6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7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8.xml><?xml version="1.0" encoding="utf-8"?>
<p:tagLst xmlns:p="http://schemas.openxmlformats.org/presentationml/2006/main">
  <p:tag name="KSO_WM_DIAGRAM_VIRTUALLY_FRAME" val="{&quot;height&quot;:157.67999999999998,&quot;left&quot;:68.4,&quot;top&quot;:279.36,&quot;width&quot;:824.3999212598425}"/>
</p:tagLst>
</file>

<file path=ppt/tags/tag49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0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1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2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3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4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5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6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7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8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59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0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1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2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3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4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5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6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7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8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69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70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71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72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73.xml><?xml version="1.0" encoding="utf-8"?>
<p:tagLst xmlns:p="http://schemas.openxmlformats.org/presentationml/2006/main">
  <p:tag name="KSO_WM_DIAGRAM_VIRTUALLY_FRAME" val="{&quot;height&quot;:356.4,&quot;left&quot;:50.4,&quot;top&quot;:100.8,&quot;width&quot;:859.68}"/>
</p:tagLst>
</file>

<file path=ppt/tags/tag74.xml><?xml version="1.0" encoding="utf-8"?>
<p:tagLst xmlns:p="http://schemas.openxmlformats.org/presentationml/2006/main">
  <p:tag name="KSO_WM_DIAGRAM_VIRTUALLY_FRAME" val="{&quot;height&quot;:356.4,&quot;left&quot;:59.04,&quot;top&quot;:108,&quot;width&quot;:830.1600000000001}"/>
</p:tagLst>
</file>

<file path=ppt/tags/tag75.xml><?xml version="1.0" encoding="utf-8"?>
<p:tagLst xmlns:p="http://schemas.openxmlformats.org/presentationml/2006/main">
  <p:tag name="KSO_WM_DIAGRAM_VIRTUALLY_FRAME" val="{&quot;height&quot;:356.4,&quot;left&quot;:59.04,&quot;top&quot;:108,&quot;width&quot;:830.1600000000001}"/>
</p:tagLst>
</file>

<file path=ppt/tags/tag76.xml><?xml version="1.0" encoding="utf-8"?>
<p:tagLst xmlns:p="http://schemas.openxmlformats.org/presentationml/2006/main">
  <p:tag name="KSO_WM_DIAGRAM_VIRTUALLY_FRAME" val="{&quot;height&quot;:356.4,&quot;left&quot;:59.04,&quot;top&quot;:108,&quot;width&quot;:830.1600000000001}"/>
</p:tagLst>
</file>

<file path=ppt/tags/tag77.xml><?xml version="1.0" encoding="utf-8"?>
<p:tagLst xmlns:p="http://schemas.openxmlformats.org/presentationml/2006/main">
  <p:tag name="KSO_WM_DIAGRAM_VIRTUALLY_FRAME" val="{&quot;height&quot;:356.4,&quot;left&quot;:59.04,&quot;top&quot;:108,&quot;width&quot;:830.1600000000001}"/>
</p:tagLst>
</file>

<file path=ppt/tags/tag78.xml><?xml version="1.0" encoding="utf-8"?>
<p:tagLst xmlns:p="http://schemas.openxmlformats.org/presentationml/2006/main">
  <p:tag name="KSO_WM_DIAGRAM_VIRTUALLY_FRAME" val="{&quot;height&quot;:356.4,&quot;left&quot;:59.04,&quot;top&quot;:108,&quot;width&quot;:830.1600000000001}"/>
</p:tagLst>
</file>

<file path=ppt/tags/tag79.xml><?xml version="1.0" encoding="utf-8"?>
<p:tagLst xmlns:p="http://schemas.openxmlformats.org/presentationml/2006/main">
  <p:tag name="KSO_WM_DIAGRAM_VIRTUALLY_FRAME" val="{&quot;height&quot;:356.4,&quot;left&quot;:59.04,&quot;top&quot;:108,&quot;width&quot;:830.16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宋体"/>
        <a:ea typeface="宋体"/>
        <a:cs typeface="宋体"/>
        <a:font script="Jpan" typeface="宋体"/>
        <a:font script="Hang" typeface="宋体"/>
        <a:font script="Hans" typeface="宋体"/>
        <a:font script="Hant" typeface="宋体"/>
        <a:font script="Arab" typeface="宋体"/>
        <a:font script="Hebr" typeface="宋体"/>
        <a:font script="Thai" typeface="宋体"/>
        <a:font script="Ethi" typeface="宋体"/>
        <a:font script="Beng" typeface="宋体"/>
        <a:font script="Gujr" typeface="宋体"/>
        <a:font script="Khmr" typeface="宋体"/>
        <a:font script="Knda" typeface="宋体"/>
        <a:font script="Guru" typeface="宋体"/>
        <a:font script="Cans" typeface="宋体"/>
        <a:font script="Cher" typeface="宋体"/>
        <a:font script="Yiii" typeface="宋体"/>
        <a:font script="Tibt" typeface="宋体"/>
        <a:font script="Thaa" typeface="宋体"/>
        <a:font script="Deva" typeface="宋体"/>
        <a:font script="Telu" typeface="宋体"/>
        <a:font script="Taml" typeface="宋体"/>
        <a:font script="Syrc" typeface="宋体"/>
        <a:font script="Orya" typeface="宋体"/>
        <a:font script="Mlym" typeface="宋体"/>
        <a:font script="Laoo" typeface="宋体"/>
        <a:font script="Sinh" typeface="宋体"/>
        <a:font script="Mong" typeface="宋体"/>
        <a:font script="Viet" typeface="宋体"/>
        <a:font script="Uigh" typeface="宋体"/>
        <a:font script="Geor" typeface="宋体"/>
      </a:majorFont>
      <a:minorFont>
        <a:latin typeface="宋体"/>
        <a:ea typeface="宋体"/>
        <a:cs typeface="宋体"/>
        <a:font script="Jpan" typeface="宋体"/>
        <a:font script="Hang" typeface="宋体"/>
        <a:font script="Hans" typeface="宋体"/>
        <a:font script="Hant" typeface="宋体"/>
        <a:font script="Arab" typeface="宋体"/>
        <a:font script="Hebr" typeface="宋体"/>
        <a:font script="Thai" typeface="宋体"/>
        <a:font script="Ethi" typeface="宋体"/>
        <a:font script="Beng" typeface="宋体"/>
        <a:font script="Gujr" typeface="宋体"/>
        <a:font script="Khmr" typeface="宋体"/>
        <a:font script="Knda" typeface="宋体"/>
        <a:font script="Guru" typeface="宋体"/>
        <a:font script="Cans" typeface="宋体"/>
        <a:font script="Cher" typeface="宋体"/>
        <a:font script="Yiii" typeface="宋体"/>
        <a:font script="Tibt" typeface="宋体"/>
        <a:font script="Thaa" typeface="宋体"/>
        <a:font script="Deva" typeface="宋体"/>
        <a:font script="Telu" typeface="宋体"/>
        <a:font script="Taml" typeface="宋体"/>
        <a:font script="Syrc" typeface="宋体"/>
        <a:font script="Orya" typeface="宋体"/>
        <a:font script="Mlym" typeface="宋体"/>
        <a:font script="Laoo" typeface="宋体"/>
        <a:font script="Sinh" typeface="宋体"/>
        <a:font script="Mong" typeface="宋体"/>
        <a:font script="Viet" typeface="宋体"/>
        <a:font script="Uigh" typeface="宋体"/>
        <a:font script="Geor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8216</Words>
  <Application>WPS 演示</Application>
  <PresentationFormat>On-screen Show (4:3)</PresentationFormat>
  <Paragraphs>876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贾定儒</cp:lastModifiedBy>
  <cp:revision>35</cp:revision>
  <dcterms:created xsi:type="dcterms:W3CDTF">2013-01-27T09:14:00Z</dcterms:created>
  <dcterms:modified xsi:type="dcterms:W3CDTF">2026-05-07T07:26:10Z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E20CB4252A1D4762BE2413BB139696E1_12</vt:lpwstr>
  </property>
</Properties>
</file>