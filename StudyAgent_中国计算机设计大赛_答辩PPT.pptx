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11E38"/>
          </a:solidFill>
          <a:ln>
            <a:solidFill>
              <a:srgbClr val="11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51206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44B0FF"/>
                </a:solidFill>
                <a:latin typeface="Microsoft YaHei"/>
              </a:rPr>
              <a:t>中国计算机设计大赛答辩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6583680" cy="1097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Study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40280"/>
            <a:ext cx="7680960" cy="731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ECF1F8"/>
                </a:solidFill>
                <a:latin typeface="Microsoft YaHei"/>
              </a:rPr>
              <a:t>面向课堂学习场景的实时语音学习助手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852160" cy="11887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D7DEEC"/>
                </a:solidFill>
                <a:latin typeface="Microsoft YaHei"/>
              </a:rPr>
              <a:t>核心能力：实时转写 / 课堂问答 / 多模态资料解析 / 历史回顾 / 视频字幕 / 课后学习闭环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143000"/>
            <a:ext cx="3886200" cy="4434840"/>
          </a:xfrm>
          <a:prstGeom prst="roundRect">
            <a:avLst>
              <a:gd name="adj" fmla="val 4000"/>
            </a:avLst>
          </a:prstGeom>
          <a:solidFill>
            <a:srgbClr val="FAFCFF"/>
          </a:solidFill>
          <a:ln w="12700">
            <a:solidFill>
              <a:srgbClr val="FAF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417320"/>
            <a:ext cx="21031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6284A"/>
                </a:solidFill>
                <a:latin typeface="Microsoft YaHei"/>
              </a:rPr>
              <a:t>项目答辩信息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847088"/>
            <a:ext cx="310896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2A3A"/>
                </a:solidFill>
                <a:latin typeface="Microsoft YaHei"/>
              </a:defRPr>
            </a:pPr>
            <a:r>
              <a:t>项目名称：Study Agent</a:t>
            </a:r>
          </a:p>
          <a:p>
            <a:pPr algn="l">
              <a:defRPr sz="1500" b="0">
                <a:solidFill>
                  <a:srgbClr val="202A3A"/>
                </a:solidFill>
                <a:latin typeface="Microsoft YaHei"/>
              </a:defRPr>
            </a:pPr>
            <a:r>
              <a:t>项目定位：课堂场景下的学习智能体</a:t>
            </a:r>
          </a:p>
          <a:p>
            <a:pPr algn="l">
              <a:defRPr sz="1500" b="0">
                <a:solidFill>
                  <a:srgbClr val="202A3A"/>
                </a:solidFill>
                <a:latin typeface="Microsoft YaHei"/>
              </a:defRPr>
            </a:pPr>
            <a:r>
              <a:t>答辩方向：软件应用 / 智能教育</a:t>
            </a:r>
          </a:p>
          <a:p>
            <a:pPr algn="l">
              <a:defRPr sz="1500" b="1">
                <a:solidFill>
                  <a:srgbClr val="F1902A"/>
                </a:solidFill>
                <a:latin typeface="Microsoft YaHei"/>
              </a:defRPr>
            </a:pPr>
            <a:r>
              <a:t>学校 / 团队 / 指导教师：答辩前替换</a:t>
            </a:r>
          </a:p>
          <a:p>
            <a:pPr algn="l">
              <a:defRPr sz="1400" b="0">
                <a:solidFill>
                  <a:srgbClr val="687488"/>
                </a:solidFill>
                <a:latin typeface="Microsoft YaHei"/>
              </a:defRPr>
            </a:pPr>
            <a:r>
              <a:t>备注：PPT 已预留 StudyLibView 后续开发位置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937760"/>
            <a:ext cx="1097280" cy="310896"/>
          </a:xfrm>
          <a:prstGeom prst="roundRect">
            <a:avLst/>
          </a:prstGeom>
          <a:solidFill>
            <a:srgbClr val="1BA062"/>
          </a:solidFill>
          <a:ln>
            <a:solidFill>
              <a:srgbClr val="1BA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本地优先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4937760"/>
            <a:ext cx="1417320" cy="310896"/>
          </a:xfrm>
          <a:prstGeom prst="roundRect">
            <a:avLst/>
          </a:prstGeom>
          <a:solidFill>
            <a:srgbClr val="259C8E"/>
          </a:solidFill>
          <a:ln>
            <a:solidFill>
              <a:srgbClr val="259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实时转写 + RAG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4937760"/>
            <a:ext cx="1554480" cy="310896"/>
          </a:xfrm>
          <a:prstGeom prst="roundRect">
            <a:avLst/>
          </a:prstGeom>
          <a:solidFill>
            <a:srgbClr val="F1902A"/>
          </a:solidFill>
          <a:ln>
            <a:solidFill>
              <a:srgbClr val="F19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多模态学习资料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4937760"/>
            <a:ext cx="1325880" cy="310896"/>
          </a:xfrm>
          <a:prstGeom prst="round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后续可扩展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132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202A3A"/>
                </a:solidFill>
                <a:latin typeface="Microsoft YaHei"/>
              </a:rPr>
              <a:t>1. 项目背景与痛点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5953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87488"/>
                </a:solidFill>
                <a:latin typeface="Microsoft YaHei"/>
              </a:rPr>
              <a:t>课堂学习的关键问题不在“获取内容”，而在“课中沉淀”和“课后复盘”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064240" cy="25400"/>
          </a:xfrm>
          <a:prstGeom prst="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1563624"/>
            <a:ext cx="960120" cy="256032"/>
          </a:xfrm>
          <a:prstGeom prst="round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痛点一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29384"/>
            <a:ext cx="3236976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02A3A"/>
                </a:solidFill>
                <a:latin typeface="Microsoft YaHei"/>
              </a:defRPr>
            </a:pPr>
            <a:r>
              <a:t>• 课堂语速快、信息密度高，学生难以同时听课、记笔记、标重点。</a:t>
            </a:r>
          </a:p>
          <a:p>
            <a:pPr algn="l">
              <a:defRPr sz="1500" b="0">
                <a:solidFill>
                  <a:srgbClr val="202A3A"/>
                </a:solidFill>
                <a:latin typeface="Microsoft YaHei"/>
              </a:defRPr>
            </a:pPr>
            <a:r>
              <a:t>• 传统录音回放效率低，缺少结构化检索能力。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41732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563624"/>
            <a:ext cx="960120" cy="256032"/>
          </a:xfrm>
          <a:prstGeom prst="roundRect">
            <a:avLst/>
          </a:prstGeom>
          <a:solidFill>
            <a:srgbClr val="F1902A"/>
          </a:solidFill>
          <a:ln>
            <a:solidFill>
              <a:srgbClr val="F19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痛点二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29384"/>
            <a:ext cx="3236976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02A3A"/>
                </a:solidFill>
                <a:latin typeface="Microsoft YaHei"/>
              </a:defRPr>
            </a:pPr>
            <a:r>
              <a:t>• 课件、板书、图片、视频等资料分散，知识入口不统一。</a:t>
            </a:r>
          </a:p>
          <a:p>
            <a:pPr algn="l">
              <a:defRPr sz="1500" b="0">
                <a:solidFill>
                  <a:srgbClr val="202A3A"/>
                </a:solidFill>
                <a:latin typeface="Microsoft YaHei"/>
              </a:defRPr>
            </a:pPr>
            <a:r>
              <a:t>• 课后复习依赖人工整理，无法快速追问和定位知识点。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141732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02167" y="1563624"/>
            <a:ext cx="960120" cy="256032"/>
          </a:xfrm>
          <a:prstGeom prst="roundRect">
            <a:avLst/>
          </a:prstGeom>
          <a:solidFill>
            <a:srgbClr val="259C8E"/>
          </a:solidFill>
          <a:ln>
            <a:solidFill>
              <a:srgbClr val="259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痛点三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7" y="1929384"/>
            <a:ext cx="3236976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02A3A"/>
                </a:solidFill>
                <a:latin typeface="Microsoft YaHei"/>
              </a:defRPr>
            </a:pPr>
            <a:r>
              <a:t>• 已有学习工具常把课堂记录、知识检索、总结出题拆成多个系统。</a:t>
            </a:r>
          </a:p>
          <a:p>
            <a:pPr algn="l">
              <a:defRPr sz="1500" b="0">
                <a:solidFill>
                  <a:srgbClr val="202A3A"/>
                </a:solidFill>
                <a:latin typeface="Microsoft YaHei"/>
              </a:defRPr>
            </a:pPr>
            <a:r>
              <a:t>• 缺少从“上课”到“复习”再到“练习”的闭环。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73952"/>
            <a:ext cx="42062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87488"/>
                </a:solidFill>
                <a:latin typeface="Microsoft YaHei"/>
              </a:rPr>
              <a:t>Study Agent | 中国计算机设计大赛答辩材料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132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202A3A"/>
                </a:solidFill>
                <a:latin typeface="Microsoft YaHei"/>
              </a:rPr>
              <a:t>2. 解决方案概述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5953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87488"/>
                </a:solidFill>
                <a:latin typeface="Microsoft YaHei"/>
              </a:rPr>
              <a:t>Study Agent 以课堂 session 为中心，把实时采集、知识组织和课后学习串成一条链路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064240" cy="25400"/>
          </a:xfrm>
          <a:prstGeom prst="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914400" cy="292608"/>
          </a:xfrm>
          <a:prstGeom prst="round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课中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25880"/>
            <a:ext cx="914400" cy="292608"/>
          </a:xfrm>
          <a:prstGeom prst="roundRect">
            <a:avLst/>
          </a:prstGeom>
          <a:solidFill>
            <a:srgbClr val="F1902A"/>
          </a:solidFill>
          <a:ln>
            <a:solidFill>
              <a:srgbClr val="F19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课后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73568" y="1325880"/>
            <a:ext cx="1325880" cy="292608"/>
          </a:xfrm>
          <a:prstGeom prst="roundRect">
            <a:avLst/>
          </a:prstGeom>
          <a:solidFill>
            <a:srgbClr val="259C8E"/>
          </a:solidFill>
          <a:ln>
            <a:solidFill>
              <a:srgbClr val="259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开发预留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33375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22860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6284A"/>
                </a:solidFill>
                <a:latin typeface="Microsoft YaHei"/>
              </a:rPr>
              <a:t>课中智能辅助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27432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A3A"/>
                </a:solidFill>
                <a:latin typeface="Microsoft YaHei"/>
              </a:defRPr>
            </a:pPr>
            <a:r>
              <a:t>• 浏览器采集麦克风与课堂画面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FunASR / Paraformer 实时转写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课堂资料上传并自动解析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视频录制、字幕生成、视觉帧识别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实时指标反馈与会话管理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719072"/>
            <a:ext cx="33375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23774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6284A"/>
                </a:solidFill>
                <a:latin typeface="Microsoft YaHei"/>
              </a:rPr>
              <a:t>课后知识利用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31720"/>
            <a:ext cx="27432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A3A"/>
                </a:solidFill>
                <a:latin typeface="Microsoft YaHei"/>
              </a:defRPr>
            </a:pPr>
            <a:r>
              <a:t>• 转写落地 SQLite + JSONL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Qdrant 准实时入库，支持课堂问答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支持历史回顾、追问、转写精修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基于课堂内容生成总结与测验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719072"/>
            <a:ext cx="3337560" cy="4206240"/>
          </a:xfrm>
          <a:prstGeom prst="roundRect">
            <a:avLst>
              <a:gd name="adj" fmla="val 8000"/>
            </a:avLst>
          </a:prstGeom>
          <a:solidFill>
            <a:srgbClr val="F7FCFB"/>
          </a:solidFill>
          <a:ln w="12700">
            <a:solidFill>
              <a:srgbClr val="B1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965960"/>
            <a:ext cx="2743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6284A"/>
                </a:solidFill>
                <a:latin typeface="Microsoft YaHei"/>
              </a:rPr>
              <a:t>StudyLibView 后续扩展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331720"/>
            <a:ext cx="2743200" cy="3063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A3A"/>
                </a:solidFill>
                <a:latin typeface="Microsoft YaHei"/>
              </a:defRPr>
            </a:pPr>
            <a:r>
              <a:t>• 已预留 /workshop 页面入口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自动总结出笔记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课后出题与自测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为答辩演示保留独立功能页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当前不在已完成功能内，避免虚报进度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473952"/>
            <a:ext cx="42062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87488"/>
                </a:solidFill>
                <a:latin typeface="Microsoft YaHei"/>
              </a:rPr>
              <a:t>Study Agent | 中国计算机设计大赛答辩材料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132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202A3A"/>
                </a:solidFill>
                <a:latin typeface="Microsoft YaHei"/>
              </a:rPr>
              <a:t>3. 现阶段功能全景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5953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87488"/>
                </a:solidFill>
                <a:latin typeface="Microsoft YaHei"/>
              </a:rPr>
              <a:t>系统围绕一堂课的完整学习流程组织功能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064240" cy="25400"/>
          </a:xfrm>
          <a:prstGeom prst="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31546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3154680" cy="73152"/>
          </a:xfrm>
          <a:prstGeom prst="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45920"/>
            <a:ext cx="25603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6284A"/>
                </a:solidFill>
                <a:latin typeface="Microsoft YaHei"/>
              </a:rPr>
              <a:t>实时语音转写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29968"/>
            <a:ext cx="2743200" cy="960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202A3A"/>
                </a:solidFill>
                <a:latin typeface="Microsoft YaHei"/>
              </a:rPr>
              <a:t>麦克风音频通过 WebSocket 进入后端，输出 partial / final transcript。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463040"/>
            <a:ext cx="31546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9080" y="1463040"/>
            <a:ext cx="3154680" cy="73152"/>
          </a:xfrm>
          <a:prstGeom prst="rect">
            <a:avLst/>
          </a:prstGeom>
          <a:solidFill>
            <a:srgbClr val="259C8E"/>
          </a:solidFill>
          <a:ln>
            <a:solidFill>
              <a:srgbClr val="259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15384" y="1645920"/>
            <a:ext cx="25603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6284A"/>
                </a:solidFill>
                <a:latin typeface="Microsoft YaHei"/>
              </a:rPr>
              <a:t>课堂问答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5384" y="2029968"/>
            <a:ext cx="2743200" cy="960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202A3A"/>
                </a:solidFill>
                <a:latin typeface="Microsoft YaHei"/>
              </a:rPr>
              <a:t>按当前课次、课程历史或全局范围检索，支持 LLM 直接回答。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79792" y="1463040"/>
            <a:ext cx="31546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79792" y="1463040"/>
            <a:ext cx="3154680" cy="73152"/>
          </a:xfrm>
          <a:prstGeom prst="rect">
            <a:avLst/>
          </a:prstGeom>
          <a:solidFill>
            <a:srgbClr val="F1902A"/>
          </a:solidFill>
          <a:ln>
            <a:solidFill>
              <a:srgbClr val="F19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6096" y="1645920"/>
            <a:ext cx="25603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6284A"/>
                </a:solidFill>
                <a:latin typeface="Microsoft YaHei"/>
              </a:rPr>
              <a:t>课件资料入库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2029968"/>
            <a:ext cx="2743200" cy="960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202A3A"/>
                </a:solidFill>
                <a:latin typeface="Microsoft YaHei"/>
              </a:rPr>
              <a:t>PDF / PPT / 图片 / HTML 通过 MinerU 解析后进入知识库。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57600"/>
            <a:ext cx="31546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657600"/>
            <a:ext cx="3154680" cy="73152"/>
          </a:xfrm>
          <a:prstGeom prst="rect">
            <a:avLst/>
          </a:prstGeom>
          <a:solidFill>
            <a:srgbClr val="1BA062"/>
          </a:solidFill>
          <a:ln>
            <a:solidFill>
              <a:srgbClr val="1BA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840480"/>
            <a:ext cx="25603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6284A"/>
                </a:solidFill>
                <a:latin typeface="Microsoft YaHei"/>
              </a:rPr>
              <a:t>历史回顾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224528"/>
            <a:ext cx="2743200" cy="960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202A3A"/>
                </a:solidFill>
                <a:latin typeface="Microsoft YaHei"/>
              </a:rPr>
              <a:t>查看课程、转写、问答、精修结果和视频字幕。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3657600"/>
            <a:ext cx="31546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080" y="3657600"/>
            <a:ext cx="3154680" cy="73152"/>
          </a:xfrm>
          <a:prstGeom prst="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15384" y="3840480"/>
            <a:ext cx="25603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6284A"/>
                </a:solidFill>
                <a:latin typeface="Microsoft YaHei"/>
              </a:rPr>
              <a:t>视频字幕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5384" y="4224528"/>
            <a:ext cx="2743200" cy="960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202A3A"/>
                </a:solidFill>
                <a:latin typeface="Microsoft YaHei"/>
              </a:rPr>
              <a:t>课堂录像可转为字幕与文本，再反向补充知识库。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9792" y="3657600"/>
            <a:ext cx="31546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9792" y="3657600"/>
            <a:ext cx="3154680" cy="73152"/>
          </a:xfrm>
          <a:prstGeom prst="rect">
            <a:avLst/>
          </a:prstGeom>
          <a:solidFill>
            <a:srgbClr val="259C8E"/>
          </a:solidFill>
          <a:ln>
            <a:solidFill>
              <a:srgbClr val="259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3840480"/>
            <a:ext cx="25603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6284A"/>
                </a:solidFill>
                <a:latin typeface="Microsoft YaHei"/>
              </a:rPr>
              <a:t>学习生成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4224528"/>
            <a:ext cx="2743200" cy="960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202A3A"/>
                </a:solidFill>
                <a:latin typeface="Microsoft YaHei"/>
              </a:rPr>
              <a:t>已有后端能力支持总结与测验，前端学习工坊页待接入。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473952"/>
            <a:ext cx="42062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87488"/>
                </a:solidFill>
                <a:latin typeface="Microsoft YaHei"/>
              </a:rPr>
              <a:t>Study Agent | 中国计算机设计大赛答辩材料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132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202A3A"/>
                </a:solidFill>
                <a:latin typeface="Microsoft YaHei"/>
              </a:rPr>
              <a:t>4. 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5953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87488"/>
                </a:solidFill>
                <a:latin typeface="Microsoft YaHei"/>
              </a:rPr>
              <a:t>前后端解耦，数据存储与模型运行分层清晰，便于本地部署与功能扩展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064240" cy="25400"/>
          </a:xfrm>
          <a:prstGeom prst="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7432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719072"/>
            <a:ext cx="1371600" cy="274320"/>
          </a:xfrm>
          <a:prstGeom prst="round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前端层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48840"/>
            <a:ext cx="2331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A3A"/>
                </a:solidFill>
                <a:latin typeface="Microsoft YaHei"/>
              </a:defRPr>
            </a:pPr>
            <a:r>
              <a:t>• Vue 3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TypeScript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Pinia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Vite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Live / History / Workshop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554480"/>
            <a:ext cx="27432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33672" y="1719072"/>
            <a:ext cx="1371600" cy="274320"/>
          </a:xfrm>
          <a:prstGeom prst="roundRect">
            <a:avLst/>
          </a:prstGeom>
          <a:solidFill>
            <a:srgbClr val="259C8E"/>
          </a:solidFill>
          <a:ln>
            <a:solidFill>
              <a:srgbClr val="259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服务层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672" y="2148840"/>
            <a:ext cx="2331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A3A"/>
                </a:solidFill>
                <a:latin typeface="Microsoft YaHei"/>
              </a:defRPr>
            </a:pPr>
            <a:r>
              <a:t>• FastAPI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WebSocket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Session API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History API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Asset / Video / Vision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554480"/>
            <a:ext cx="27432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71232" y="1719072"/>
            <a:ext cx="1371600" cy="274320"/>
          </a:xfrm>
          <a:prstGeom prst="roundRect">
            <a:avLst/>
          </a:prstGeom>
          <a:solidFill>
            <a:srgbClr val="F1902A"/>
          </a:solidFill>
          <a:ln>
            <a:solidFill>
              <a:srgbClr val="F19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智能层与存储层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2" y="2148840"/>
            <a:ext cx="2331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A3A"/>
                </a:solidFill>
                <a:latin typeface="Microsoft YaHei"/>
              </a:defRPr>
            </a:pPr>
            <a:r>
              <a:t>• FunASR / Paraformer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BGE Embedding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Qdrant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SQLite + JSONL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MinerU / OpenAI Compatible LLM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20440" y="3749039"/>
            <a:ext cx="457199" cy="0"/>
          </a:xfrm>
          <a:prstGeom prst="line">
            <a:avLst/>
          </a:prstGeom>
          <a:ln w="25400">
            <a:solidFill>
              <a:srgbClr val="366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0" y="3749039"/>
            <a:ext cx="457200" cy="0"/>
          </a:xfrm>
          <a:prstGeom prst="line">
            <a:avLst/>
          </a:prstGeom>
          <a:ln w="25400">
            <a:solidFill>
              <a:srgbClr val="366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0352" y="6473952"/>
            <a:ext cx="42062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87488"/>
                </a:solidFill>
                <a:latin typeface="Microsoft YaHei"/>
              </a:rPr>
              <a:t>Study Agent | 中国计算机设计大赛答辩材料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132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202A3A"/>
                </a:solidFill>
                <a:latin typeface="Microsoft YaHei"/>
              </a:rPr>
              <a:t>5. 实时语音链路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5953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87488"/>
                </a:solidFill>
                <a:latin typeface="Microsoft YaHei"/>
              </a:rPr>
              <a:t>课堂语音从浏览器进入后端流水线，再回到界面并落地存储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064240" cy="25400"/>
          </a:xfrm>
          <a:prstGeom prst="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1488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8096" y="2267712"/>
            <a:ext cx="749808" cy="256032"/>
          </a:xfrm>
          <a:prstGeom prst="round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606040"/>
            <a:ext cx="189280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16284A"/>
                </a:solidFill>
                <a:latin typeface="Microsoft YaHei"/>
              </a:rPr>
              <a:t>01 浏览器采集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999232"/>
            <a:ext cx="1892808" cy="7498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202A3A"/>
                </a:solidFill>
                <a:latin typeface="Microsoft YaHei"/>
              </a:rPr>
              <a:t>麦克风音频 -&gt; AudioContext -&gt; float32 音频帧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88920" y="3063240"/>
            <a:ext cx="320040" cy="0"/>
          </a:xfrm>
          <a:prstGeom prst="line">
            <a:avLst/>
          </a:prstGeom>
          <a:ln w="25400">
            <a:solidFill>
              <a:srgbClr val="259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44368" y="2103120"/>
            <a:ext cx="21488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72384" y="2267712"/>
            <a:ext cx="749808" cy="256032"/>
          </a:xfrm>
          <a:prstGeom prst="round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2606040"/>
            <a:ext cx="189280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16284A"/>
                </a:solidFill>
                <a:latin typeface="Microsoft YaHei"/>
              </a:rPr>
              <a:t>02 WebSocket 传输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2999232"/>
            <a:ext cx="1892808" cy="7498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202A3A"/>
                </a:solidFill>
                <a:latin typeface="Microsoft YaHei"/>
              </a:rPr>
              <a:t>按 session 建立连接，连续推送音频与心跳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93208" y="3063240"/>
            <a:ext cx="320040" cy="0"/>
          </a:xfrm>
          <a:prstGeom prst="line">
            <a:avLst/>
          </a:prstGeom>
          <a:ln w="25400">
            <a:solidFill>
              <a:srgbClr val="259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48656" y="2103120"/>
            <a:ext cx="21488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76672" y="2267712"/>
            <a:ext cx="749808" cy="256032"/>
          </a:xfrm>
          <a:prstGeom prst="round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2606040"/>
            <a:ext cx="189280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16284A"/>
                </a:solidFill>
                <a:latin typeface="Microsoft YaHei"/>
              </a:rPr>
              <a:t>03 VAD + ASR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2999232"/>
            <a:ext cx="1892808" cy="7498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202A3A"/>
                </a:solidFill>
                <a:latin typeface="Microsoft YaHei"/>
              </a:rPr>
              <a:t>FrameSlicer + VADProcessor + Realtime ASR Driver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97496" y="3063240"/>
            <a:ext cx="320040" cy="0"/>
          </a:xfrm>
          <a:prstGeom prst="line">
            <a:avLst/>
          </a:prstGeom>
          <a:ln w="25400">
            <a:solidFill>
              <a:srgbClr val="259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52944" y="2103120"/>
            <a:ext cx="21488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80960" y="2267712"/>
            <a:ext cx="749808" cy="256032"/>
          </a:xfrm>
          <a:prstGeom prst="round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606040"/>
            <a:ext cx="189280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16284A"/>
                </a:solidFill>
                <a:latin typeface="Microsoft YaHei"/>
              </a:rPr>
              <a:t>04 实时回显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999232"/>
            <a:ext cx="1892808" cy="7498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202A3A"/>
                </a:solidFill>
                <a:latin typeface="Microsoft YaHei"/>
              </a:rPr>
              <a:t>前端显示 partial / final transcript 与音频指标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701784" y="3063240"/>
            <a:ext cx="320040" cy="0"/>
          </a:xfrm>
          <a:prstGeom prst="line">
            <a:avLst/>
          </a:prstGeom>
          <a:ln w="25400">
            <a:solidFill>
              <a:srgbClr val="259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57232" y="2103120"/>
            <a:ext cx="21488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85248" y="2267712"/>
            <a:ext cx="749808" cy="256032"/>
          </a:xfrm>
          <a:prstGeom prst="round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5248" y="2606040"/>
            <a:ext cx="1892808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16284A"/>
                </a:solidFill>
                <a:latin typeface="Microsoft YaHei"/>
              </a:rPr>
              <a:t>05 数据落地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5248" y="2999232"/>
            <a:ext cx="1892808" cy="7498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202A3A"/>
                </a:solidFill>
                <a:latin typeface="Microsoft YaHei"/>
              </a:rPr>
              <a:t>SQLite / JSONL 持久化，并准备进入后续 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473952"/>
            <a:ext cx="42062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87488"/>
                </a:solidFill>
                <a:latin typeface="Microsoft YaHei"/>
              </a:rPr>
              <a:t>Study Agent | 中国计算机设计大赛答辩材料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132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202A3A"/>
                </a:solidFill>
                <a:latin typeface="Microsoft YaHei"/>
              </a:rPr>
              <a:t>6. RAG 与知识组织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5953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87488"/>
                </a:solidFill>
                <a:latin typeface="Microsoft YaHei"/>
              </a:rPr>
              <a:t>本项目不是简单聊天，而是围绕课堂 session 构建可检索、可追问、可沉淀的知识流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064240" cy="25400"/>
          </a:xfrm>
          <a:prstGeom prst="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508760"/>
            <a:ext cx="324612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83080"/>
            <a:ext cx="23774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900" b="1">
                <a:solidFill>
                  <a:srgbClr val="16284A"/>
                </a:solidFill>
                <a:latin typeface="Microsoft YaHei"/>
              </a:rPr>
              <a:t>知识来源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48840"/>
            <a:ext cx="26974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A3A"/>
                </a:solidFill>
                <a:latin typeface="Microsoft YaHei"/>
              </a:defRPr>
            </a:pPr>
            <a:r>
              <a:t>• 实时语音最终转写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• 课件 / 文档 / HTML / 图片解析结果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• 视频字幕与视觉区域识别文本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• 历史 session 的可追溯课堂内容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508760"/>
            <a:ext cx="324612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23774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900" b="1">
                <a:solidFill>
                  <a:srgbClr val="16284A"/>
                </a:solidFill>
                <a:latin typeface="Microsoft YaHei"/>
              </a:rPr>
              <a:t>组织方式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48840"/>
            <a:ext cx="26974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A3A"/>
                </a:solidFill>
                <a:latin typeface="Microsoft YaHei"/>
              </a:defRPr>
            </a:pPr>
            <a:r>
              <a:t>• 统一转为 TranscriptRecord / Chunk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• 附带 course_id / lesson_id / source_type 等元数据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• 按阈值缓冲写入 Qdrant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• 支持当前课次、课程历史、全局范围检索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1312" y="1508760"/>
            <a:ext cx="324612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783080"/>
            <a:ext cx="23774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900" b="1">
                <a:solidFill>
                  <a:srgbClr val="16284A"/>
                </a:solidFill>
                <a:latin typeface="Microsoft YaHei"/>
              </a:rPr>
              <a:t>结果利用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48840"/>
            <a:ext cx="26974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A3A"/>
                </a:solidFill>
                <a:latin typeface="Microsoft YaHei"/>
              </a:defRPr>
            </a:pPr>
            <a:r>
              <a:t>• 实时问答与历史追问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• 课堂总结、知识点提炼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• 课后测验生成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• 后续 StudyLibView 笔记页与练习页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59352" y="3749039"/>
            <a:ext cx="457200" cy="0"/>
          </a:xfrm>
          <a:prstGeom prst="line">
            <a:avLst/>
          </a:prstGeom>
          <a:ln w="25400">
            <a:solidFill>
              <a:srgbClr val="F19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08392" y="3749039"/>
            <a:ext cx="457200" cy="0"/>
          </a:xfrm>
          <a:prstGeom prst="line">
            <a:avLst/>
          </a:prstGeom>
          <a:ln w="25400">
            <a:solidFill>
              <a:srgbClr val="F19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0352" y="6473952"/>
            <a:ext cx="42062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87488"/>
                </a:solidFill>
                <a:latin typeface="Microsoft YaHei"/>
              </a:rPr>
              <a:t>Study Agent | 中国计算机设计大赛答辩材料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132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202A3A"/>
                </a:solidFill>
                <a:latin typeface="Microsoft YaHei"/>
              </a:rPr>
              <a:t>7. 界面与交互组织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5953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87488"/>
                </a:solidFill>
                <a:latin typeface="Microsoft YaHei"/>
              </a:rPr>
              <a:t>当前前端已形成较清晰的三栏工作台，并预留后续学习工坊入口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064240" cy="25400"/>
          </a:xfrm>
          <a:prstGeom prst="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7269480" cy="4526280"/>
          </a:xfrm>
          <a:prstGeom prst="roundRect">
            <a:avLst>
              <a:gd name="adj" fmla="val 8000"/>
            </a:avLst>
          </a:prstGeom>
          <a:solidFill>
            <a:srgbClr val="F8FA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83080"/>
            <a:ext cx="23774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900" b="1">
                <a:solidFill>
                  <a:srgbClr val="16284A"/>
                </a:solidFill>
                <a:latin typeface="Microsoft YaHei"/>
              </a:rPr>
              <a:t>主界面结构示意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1901952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99232" y="2331720"/>
            <a:ext cx="20116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93792" y="2331720"/>
            <a:ext cx="23317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93792" y="3822191"/>
            <a:ext cx="23317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606040"/>
            <a:ext cx="155448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02A3A"/>
                </a:solidFill>
                <a:latin typeface="Microsoft YaHei"/>
              </a:rPr>
              <a:t>Session / 设备 / 资料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926080"/>
            <a:ext cx="1463040" cy="19202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87488"/>
                </a:solidFill>
                <a:latin typeface="Microsoft YaHei"/>
              </a:rPr>
              <a:t>课程名
模型选择
麦克风 / 摄像头
素材上传状态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2606040"/>
            <a:ext cx="155448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02A3A"/>
                </a:solidFill>
                <a:latin typeface="Microsoft YaHei"/>
              </a:rPr>
              <a:t>实时转写面板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5536" y="2926080"/>
            <a:ext cx="1554480" cy="19202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87488"/>
                </a:solidFill>
                <a:latin typeface="Microsoft YaHei"/>
              </a:rPr>
              <a:t>按时间顺序显示
partial / final transcript
自动滚动与同步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8384" y="2578608"/>
            <a:ext cx="155448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02A3A"/>
                </a:solidFill>
                <a:latin typeface="Microsoft YaHei"/>
              </a:rPr>
              <a:t>视频 / 视觉区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8384" y="2889504"/>
            <a:ext cx="1783080" cy="438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687488"/>
                </a:solidFill>
                <a:latin typeface="Microsoft YaHei"/>
              </a:rPr>
              <a:t>摄像头预览、区域框选、视频录制与字幕状态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8384" y="4078224"/>
            <a:ext cx="155448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02A3A"/>
                </a:solidFill>
                <a:latin typeface="Microsoft YaHei"/>
              </a:rPr>
              <a:t>课堂问答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4407408"/>
            <a:ext cx="1783080" cy="56692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687488"/>
                </a:solidFill>
                <a:latin typeface="Microsoft YaHei"/>
              </a:rPr>
              <a:t>当前 session 问答、RAG 开关、追问与结果回显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554480"/>
            <a:ext cx="324612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1783080"/>
            <a:ext cx="23774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900" b="1">
                <a:solidFill>
                  <a:srgbClr val="16284A"/>
                </a:solidFill>
                <a:latin typeface="Microsoft YaHei"/>
              </a:rPr>
              <a:t>页面路由现状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2148840"/>
            <a:ext cx="269748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A3A"/>
                </a:solidFill>
                <a:latin typeface="Microsoft YaHei"/>
              </a:defRPr>
            </a:pPr>
            <a:r>
              <a:t>• /          实时课堂主界面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• /history   历史回顾页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• /workshop  StudyLibView 预留入口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• 当前 workshop 页仅占位，适合继续扩展答辩功能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473952"/>
            <a:ext cx="42062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87488"/>
                </a:solidFill>
                <a:latin typeface="Microsoft YaHei"/>
              </a:rPr>
              <a:t>Study Agent | 中国计算机设计大赛答辩材料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132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202A3A"/>
                </a:solidFill>
                <a:latin typeface="Microsoft YaHei"/>
              </a:rPr>
              <a:t>8. 答辩演示路径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5953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87488"/>
                </a:solidFill>
                <a:latin typeface="Microsoft YaHei"/>
              </a:rPr>
              <a:t>建议现场按“课中 -&gt; 课后 -&gt; 规划扩展”的顺序演示，逻辑最顺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064240" cy="25400"/>
          </a:xfrm>
          <a:prstGeom prst="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99616"/>
            <a:ext cx="530352" cy="274320"/>
          </a:xfrm>
          <a:prstGeom prst="round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08760" y="1444752"/>
            <a:ext cx="9829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1554480"/>
            <a:ext cx="2103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16284A"/>
                </a:solidFill>
                <a:latin typeface="Microsoft YaHei"/>
              </a:rPr>
              <a:t>创建课堂会话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554480"/>
            <a:ext cx="69494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202A3A"/>
                </a:solidFill>
                <a:latin typeface="Microsoft YaHei"/>
              </a:rPr>
              <a:t>输入课程名，选择模型与设备，创建 session。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49424"/>
            <a:ext cx="530352" cy="274320"/>
          </a:xfrm>
          <a:prstGeom prst="round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2194560"/>
            <a:ext cx="9829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2304288"/>
            <a:ext cx="2103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16284A"/>
                </a:solidFill>
                <a:latin typeface="Microsoft YaHei"/>
              </a:rPr>
              <a:t>开始实时录音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304288"/>
            <a:ext cx="69494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202A3A"/>
                </a:solidFill>
                <a:latin typeface="Microsoft YaHei"/>
              </a:rPr>
              <a:t>展示 partial / final transcript 的实时回显。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99232"/>
            <a:ext cx="530352" cy="274320"/>
          </a:xfrm>
          <a:prstGeom prst="round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2944368"/>
            <a:ext cx="9829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3054096"/>
            <a:ext cx="2103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16284A"/>
                </a:solidFill>
                <a:latin typeface="Microsoft YaHei"/>
              </a:rPr>
              <a:t>上传课堂资料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054096"/>
            <a:ext cx="69494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202A3A"/>
                </a:solidFill>
                <a:latin typeface="Microsoft YaHei"/>
              </a:rPr>
              <a:t>导入 PPT / PDF / 图片，说明解析入库逻辑。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49040"/>
            <a:ext cx="530352" cy="274320"/>
          </a:xfrm>
          <a:prstGeom prst="round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3694176"/>
            <a:ext cx="9829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3803904"/>
            <a:ext cx="2103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16284A"/>
                </a:solidFill>
                <a:latin typeface="Microsoft YaHei"/>
              </a:rPr>
              <a:t>课堂追问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803904"/>
            <a:ext cx="69494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202A3A"/>
                </a:solidFill>
                <a:latin typeface="Microsoft YaHei"/>
              </a:rPr>
              <a:t>围绕当前课程提问，展示历史上下文与检索结果。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498848"/>
            <a:ext cx="530352" cy="274320"/>
          </a:xfrm>
          <a:prstGeom prst="round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4443984"/>
            <a:ext cx="9829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83080" y="4553712"/>
            <a:ext cx="2103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16284A"/>
                </a:solidFill>
                <a:latin typeface="Microsoft YaHei"/>
              </a:rPr>
              <a:t>历史回顾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553712"/>
            <a:ext cx="69494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202A3A"/>
                </a:solidFill>
                <a:latin typeface="Microsoft YaHei"/>
              </a:rPr>
              <a:t>切换 History 页面，展示转写、追问、字幕与精修记录。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248656"/>
            <a:ext cx="530352" cy="274320"/>
          </a:xfrm>
          <a:prstGeom prst="round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08760" y="5193792"/>
            <a:ext cx="9829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83080" y="5303520"/>
            <a:ext cx="21031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16284A"/>
                </a:solidFill>
                <a:latin typeface="Microsoft YaHei"/>
              </a:rPr>
              <a:t>StudyLibView 预告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5303520"/>
            <a:ext cx="69494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202A3A"/>
                </a:solidFill>
                <a:latin typeface="Microsoft YaHei"/>
              </a:rPr>
              <a:t>说明后续会把笔记总结和课后出题统一放在 /workshop。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473952"/>
            <a:ext cx="42062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87488"/>
                </a:solidFill>
                <a:latin typeface="Microsoft YaHei"/>
              </a:rPr>
              <a:t>Study Agent | 中国计算机设计大赛答辩材料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132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202A3A"/>
                </a:solidFill>
                <a:latin typeface="Microsoft YaHei"/>
              </a:rPr>
              <a:t>9. 完成度与比赛表述边界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5953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87488"/>
                </a:solidFill>
                <a:latin typeface="Microsoft YaHei"/>
              </a:rPr>
              <a:t>答辩时应区分“已完成”“已具备后端能力”“前端预留待接入”，避免把规划说成现状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064240" cy="25400"/>
          </a:xfrm>
          <a:prstGeom prst="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01752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202A3A"/>
                </a:solidFill>
                <a:latin typeface="Microsoft YaHei"/>
              </a:rPr>
              <a:t>实时语音转写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572768"/>
            <a:ext cx="932688" cy="256032"/>
          </a:xfrm>
          <a:prstGeom prst="roundRect">
            <a:avLst/>
          </a:prstGeom>
          <a:solidFill>
            <a:srgbClr val="1BA062"/>
          </a:solidFill>
          <a:ln>
            <a:solidFill>
              <a:srgbClr val="1BA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已完成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554480"/>
            <a:ext cx="589788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87488"/>
                </a:solidFill>
                <a:latin typeface="Microsoft YaHei"/>
              </a:rPr>
              <a:t>主链路已打通，可展示实时输出与落地。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6712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04288"/>
            <a:ext cx="301752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202A3A"/>
                </a:solidFill>
                <a:latin typeface="Microsoft YaHei"/>
              </a:rPr>
              <a:t>课堂资料解析入库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322576"/>
            <a:ext cx="932688" cy="256032"/>
          </a:xfrm>
          <a:prstGeom prst="roundRect">
            <a:avLst/>
          </a:prstGeom>
          <a:solidFill>
            <a:srgbClr val="1BA062"/>
          </a:solidFill>
          <a:ln>
            <a:solidFill>
              <a:srgbClr val="1BA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已完成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304288"/>
            <a:ext cx="589788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87488"/>
                </a:solidFill>
                <a:latin typeface="Microsoft YaHei"/>
              </a:rPr>
              <a:t>课件 / 图片 / HTML / 视频字幕已进入统一知识流。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1693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54096"/>
            <a:ext cx="301752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202A3A"/>
                </a:solidFill>
                <a:latin typeface="Microsoft YaHei"/>
              </a:rPr>
              <a:t>课堂问答与历史回顾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3072384"/>
            <a:ext cx="932688" cy="256032"/>
          </a:xfrm>
          <a:prstGeom prst="roundRect">
            <a:avLst/>
          </a:prstGeom>
          <a:solidFill>
            <a:srgbClr val="1BA062"/>
          </a:solidFill>
          <a:ln>
            <a:solidFill>
              <a:srgbClr val="1BA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已完成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054096"/>
            <a:ext cx="589788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87488"/>
                </a:solidFill>
                <a:latin typeface="Microsoft YaHei"/>
              </a:rPr>
              <a:t>支持当前 session 问答、历史页面查看与追问。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6674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03904"/>
            <a:ext cx="301752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202A3A"/>
                </a:solidFill>
                <a:latin typeface="Microsoft YaHei"/>
              </a:rPr>
              <a:t>课堂总结 / 课后出题后端能力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822192"/>
            <a:ext cx="932688" cy="256032"/>
          </a:xfrm>
          <a:prstGeom prst="roundRect">
            <a:avLst/>
          </a:prstGeom>
          <a:solidFill>
            <a:srgbClr val="F1902A"/>
          </a:solidFill>
          <a:ln>
            <a:solidFill>
              <a:srgbClr val="F19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已具备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803904"/>
            <a:ext cx="589788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87488"/>
                </a:solidFill>
                <a:latin typeface="Microsoft YaHei"/>
              </a:rPr>
              <a:t>后端已有 summary / quiz service，可作为能力说明。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1655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53712"/>
            <a:ext cx="301752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202A3A"/>
                </a:solidFill>
                <a:latin typeface="Microsoft YaHei"/>
              </a:rPr>
              <a:t>StudyLibView 前端页面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4572000"/>
            <a:ext cx="932688" cy="256032"/>
          </a:xfrm>
          <a:prstGeom prst="roundRect">
            <a:avLst/>
          </a:prstGeom>
          <a:solidFill>
            <a:srgbClr val="F1902A"/>
          </a:solidFill>
          <a:ln>
            <a:solidFill>
              <a:srgbClr val="F19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已预留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553712"/>
            <a:ext cx="589788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87488"/>
                </a:solidFill>
                <a:latin typeface="Microsoft YaHei"/>
              </a:rPr>
              <a:t>当前只有 /workshop 路由占位，适合继续开发答辩展示页。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16636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303520"/>
            <a:ext cx="301752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202A3A"/>
                </a:solidFill>
                <a:latin typeface="Microsoft YaHei"/>
              </a:rPr>
              <a:t>自动总结出笔记 / 课后出题前端闭环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5321808"/>
            <a:ext cx="932688" cy="256032"/>
          </a:xfrm>
          <a:prstGeom prst="roundRect">
            <a:avLst/>
          </a:prstGeom>
          <a:solidFill>
            <a:srgbClr val="DF4E4E"/>
          </a:solidFill>
          <a:ln>
            <a:solidFill>
              <a:srgbClr val="DF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待实现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5303520"/>
            <a:ext cx="589788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87488"/>
                </a:solidFill>
                <a:latin typeface="Microsoft YaHei"/>
              </a:rPr>
              <a:t>建议答辩中明确说明为下一步开发重点。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473952"/>
            <a:ext cx="42062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87488"/>
                </a:solidFill>
                <a:latin typeface="Microsoft YaHei"/>
              </a:rPr>
              <a:t>Study Agent | 中国计算机设计大赛答辩材料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132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202A3A"/>
                </a:solidFill>
                <a:latin typeface="Microsoft YaHei"/>
              </a:rPr>
              <a:t>10. StudyLibView 开发预留页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5953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87488"/>
                </a:solidFill>
                <a:latin typeface="Microsoft YaHei"/>
              </a:rPr>
              <a:t>本页专门为你后续实现两个功能预留，答辩时可以作为“下一阶段重点”或“扩展规划”展示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064240" cy="25400"/>
          </a:xfrm>
          <a:prstGeom prst="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8096" y="1325880"/>
            <a:ext cx="1828800" cy="292608"/>
          </a:xfrm>
          <a:prstGeom prst="roundRect">
            <a:avLst/>
          </a:prstGeom>
          <a:solidFill>
            <a:srgbClr val="259C8E"/>
          </a:solidFill>
          <a:ln>
            <a:solidFill>
              <a:srgbClr val="259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入口：/workshop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94960" cy="4526280"/>
          </a:xfrm>
          <a:prstGeom prst="roundRect">
            <a:avLst>
              <a:gd name="adj" fmla="val 8000"/>
            </a:avLst>
          </a:prstGeom>
          <a:solidFill>
            <a:srgbClr val="F9FC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81344" y="1783080"/>
            <a:ext cx="5349240" cy="4526280"/>
          </a:xfrm>
          <a:prstGeom prst="roundRect">
            <a:avLst>
              <a:gd name="adj" fmla="val 8000"/>
            </a:avLst>
          </a:prstGeom>
          <a:solidFill>
            <a:srgbClr val="F9FC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3200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100" b="1">
                <a:solidFill>
                  <a:srgbClr val="16284A"/>
                </a:solidFill>
                <a:latin typeface="Microsoft YaHei"/>
              </a:rPr>
              <a:t>功能一：自动总结出笔记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36576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A3A"/>
                </a:solidFill>
                <a:latin typeface="Microsoft YaHei"/>
              </a:defRPr>
            </a:pPr>
            <a:r>
              <a:t>• 输入：课堂转写 + 课件解析 + 视频字幕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• 输出：结构化笔记、重点概念、复习清单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• 形式：一键生成，可沉淀为课后学习页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• 建议展示：笔记卡片、时间线、章节摘要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754880"/>
            <a:ext cx="45262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87488"/>
                </a:solidFill>
                <a:latin typeface="Microsoft YaHei"/>
              </a:defRPr>
            </a:pPr>
            <a:r>
              <a:t>此处替换为 StudyLibView 笔记页截图 / 演示稿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93392"/>
            <a:ext cx="3200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100" b="1">
                <a:solidFill>
                  <a:srgbClr val="16284A"/>
                </a:solidFill>
                <a:latin typeface="Microsoft YaHei"/>
              </a:rPr>
              <a:t>功能二：课后出题与自测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377440"/>
            <a:ext cx="36576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A3A"/>
                </a:solidFill>
                <a:latin typeface="Microsoft YaHei"/>
              </a:defRPr>
            </a:pPr>
            <a:r>
              <a:t>• 输入：课堂知识点与总结结果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• 输出：选择题 / 简答题 / 重点回忆题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• 形式：即时练习 + 答案解析 + 知识回溯</a:t>
            </a:r>
          </a:p>
          <a:p>
            <a:pPr algn="l">
              <a:defRPr sz="1600" b="0">
                <a:solidFill>
                  <a:srgbClr val="202A3A"/>
                </a:solidFill>
                <a:latin typeface="Microsoft YaHei"/>
              </a:defRPr>
            </a:pPr>
            <a:r>
              <a:t>• • 建议展示：题目卡片、作答反馈、错题回看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37376" y="4754880"/>
            <a:ext cx="44805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87488"/>
                </a:solidFill>
                <a:latin typeface="Microsoft YaHei"/>
              </a:defRPr>
            </a:pPr>
            <a:r>
              <a:t>此处替换为 StudyLibView 出题页截图 / 演示稿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73952"/>
            <a:ext cx="42062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87488"/>
                </a:solidFill>
                <a:latin typeface="Microsoft YaHei"/>
              </a:rPr>
              <a:t>Study Agent | 中国计算机设计大赛答辩材料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132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202A3A"/>
                </a:solidFill>
                <a:latin typeface="Microsoft YaHei"/>
              </a:rPr>
              <a:t>11. 项目亮点与创新点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5953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87488"/>
                </a:solidFill>
                <a:latin typeface="Microsoft YaHei"/>
              </a:rPr>
              <a:t>本项目的价值不只是识别准确，而是把课堂资料变成可以持续利用的学习资产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064240" cy="25400"/>
          </a:xfrm>
          <a:prstGeom prst="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536192"/>
            <a:ext cx="107899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536192"/>
            <a:ext cx="109728" cy="822960"/>
          </a:xfrm>
          <a:prstGeom prst="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664208"/>
            <a:ext cx="292608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6284A"/>
                </a:solidFill>
                <a:latin typeface="Microsoft YaHei"/>
              </a:rPr>
              <a:t>以课堂 session 为主轴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8768" y="1664208"/>
            <a:ext cx="717804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202A3A"/>
                </a:solidFill>
                <a:latin typeface="Microsoft YaHei"/>
              </a:rPr>
              <a:t>不是单纯录音或聊天，而是把课程、课次、资料、问答和历史记录绑定在一起。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96312"/>
            <a:ext cx="107899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496312"/>
            <a:ext cx="109728" cy="822960"/>
          </a:xfrm>
          <a:prstGeom prst="rect">
            <a:avLst/>
          </a:prstGeom>
          <a:solidFill>
            <a:srgbClr val="F1902A"/>
          </a:solidFill>
          <a:ln>
            <a:solidFill>
              <a:srgbClr val="F19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624328"/>
            <a:ext cx="292608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6284A"/>
                </a:solidFill>
                <a:latin typeface="Microsoft YaHei"/>
              </a:rPr>
              <a:t>多源知识统一进入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624328"/>
            <a:ext cx="717804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202A3A"/>
                </a:solidFill>
                <a:latin typeface="Microsoft YaHei"/>
              </a:rPr>
              <a:t>实时转写、课件解析、视频字幕、视觉文本统一带元数据进入知识库。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456432"/>
            <a:ext cx="107899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3456432"/>
            <a:ext cx="109728" cy="822960"/>
          </a:xfrm>
          <a:prstGeom prst="rect">
            <a:avLst/>
          </a:prstGeom>
          <a:solidFill>
            <a:srgbClr val="1BA062"/>
          </a:solidFill>
          <a:ln>
            <a:solidFill>
              <a:srgbClr val="1BA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584448"/>
            <a:ext cx="292608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6284A"/>
                </a:solidFill>
                <a:latin typeface="Microsoft YaHei"/>
              </a:rPr>
              <a:t>本地优先，适合校园场景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3584448"/>
            <a:ext cx="717804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202A3A"/>
                </a:solidFill>
                <a:latin typeface="Microsoft YaHei"/>
              </a:rPr>
              <a:t>Embedding、Qdrant、ASR 模型支持本地运行，便于离线演示和数据留存。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416552"/>
            <a:ext cx="107899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4416552"/>
            <a:ext cx="109728" cy="822960"/>
          </a:xfrm>
          <a:prstGeom prst="rect">
            <a:avLst/>
          </a:prstGeom>
          <a:solidFill>
            <a:srgbClr val="259C8E"/>
          </a:solidFill>
          <a:ln>
            <a:solidFill>
              <a:srgbClr val="259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544568"/>
            <a:ext cx="292608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6284A"/>
                </a:solidFill>
                <a:latin typeface="Microsoft YaHei"/>
              </a:rPr>
              <a:t>具备课后学习延展性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4544568"/>
            <a:ext cx="7178040" cy="31089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202A3A"/>
                </a:solidFill>
                <a:latin typeface="Microsoft YaHei"/>
              </a:rPr>
              <a:t>后端已经具备总结和出题服务，前端可继续扩为 StudyLibView 学习工坊。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42062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87488"/>
                </a:solidFill>
                <a:latin typeface="Microsoft YaHei"/>
              </a:rPr>
              <a:t>Study Agent | 中国计算机设计大赛答辩材料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1323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202A3A"/>
                </a:solidFill>
                <a:latin typeface="Microsoft YaHei"/>
              </a:rPr>
              <a:t>12. 后续开发计划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85953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87488"/>
                </a:solidFill>
                <a:latin typeface="Microsoft YaHei"/>
              </a:rPr>
              <a:t>比赛前后可以围绕 StudyLibView 把“能力存在”升级为“完整学习体验”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064240" cy="25400"/>
          </a:xfrm>
          <a:prstGeom prst="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993392"/>
            <a:ext cx="34290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2176272"/>
            <a:ext cx="868680" cy="256032"/>
          </a:xfrm>
          <a:prstGeom prst="round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短期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2615184"/>
            <a:ext cx="2971800" cy="1097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16284A"/>
                </a:solidFill>
                <a:latin typeface="Microsoft YaHei"/>
              </a:rPr>
              <a:t>接入 StudyLibView：自动笔记、课后出题、页面交互闭环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3712" y="1993392"/>
            <a:ext cx="34290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18304" y="2176272"/>
            <a:ext cx="868680" cy="256032"/>
          </a:xfrm>
          <a:prstGeom prst="roundRect">
            <a:avLst/>
          </a:prstGeom>
          <a:solidFill>
            <a:srgbClr val="F1902A"/>
          </a:solidFill>
          <a:ln>
            <a:solidFill>
              <a:srgbClr val="F19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中期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8304" y="2615184"/>
            <a:ext cx="2971800" cy="1097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16284A"/>
                </a:solidFill>
                <a:latin typeface="Microsoft YaHei"/>
              </a:rPr>
              <a:t>增加错题本、知识卡片、复习日历、章节知识树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38744" y="1993392"/>
            <a:ext cx="34290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03336" y="2176272"/>
            <a:ext cx="868680" cy="256032"/>
          </a:xfrm>
          <a:prstGeom prst="roundRect">
            <a:avLst/>
          </a:prstGeom>
          <a:solidFill>
            <a:srgbClr val="259C8E"/>
          </a:solidFill>
          <a:ln>
            <a:solidFill>
              <a:srgbClr val="259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长期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3336" y="2615184"/>
            <a:ext cx="2971800" cy="1097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16284A"/>
                </a:solidFill>
                <a:latin typeface="Microsoft YaHei"/>
              </a:rPr>
              <a:t>引入学习画像、个性化推荐、跨课程知识关联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983480"/>
            <a:ext cx="10241280" cy="74980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2700">
            <a:solidFill>
              <a:srgbClr val="DA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193792"/>
            <a:ext cx="9784080" cy="23774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6284A"/>
                </a:solidFill>
                <a:latin typeface="Microsoft YaHei"/>
              </a:rPr>
              <a:t>建议答辩措辞：当前系统已完成课堂主链路，StudyLibView 将把现有总结/出题能力进一步产品化、页面化、可演示化。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473952"/>
            <a:ext cx="42062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87488"/>
                </a:solidFill>
                <a:latin typeface="Microsoft YaHei"/>
              </a:rPr>
              <a:t>Study Agent | 中国计算机设计大赛答辩材料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417320"/>
            <a:ext cx="493776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44B0FF"/>
                </a:solidFill>
                <a:latin typeface="Microsoft YaHei"/>
              </a:rPr>
              <a:t>答辩总结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920240"/>
            <a:ext cx="621792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Study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743200"/>
            <a:ext cx="6583680" cy="1371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0">
                <a:solidFill>
                  <a:srgbClr val="E8EFFA"/>
                </a:solidFill>
                <a:latin typeface="Microsoft YaHei"/>
              </a:rPr>
              <a:t>我们尝试把课堂上的声音、画面、资料和课后学习动作连接起来，
把“听完一节课”升级为“沉淀一份可持续利用的学习资产”。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4709160"/>
            <a:ext cx="1280160" cy="310896"/>
          </a:xfrm>
          <a:prstGeom prst="roundRect">
            <a:avLst/>
          </a:prstGeom>
          <a:solidFill>
            <a:srgbClr val="3663D8"/>
          </a:solidFill>
          <a:ln>
            <a:solidFill>
              <a:srgbClr val="36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实时课堂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4709160"/>
            <a:ext cx="1508760" cy="310896"/>
          </a:xfrm>
          <a:prstGeom prst="roundRect">
            <a:avLst/>
          </a:prstGeom>
          <a:solidFill>
            <a:srgbClr val="259C8E"/>
          </a:solidFill>
          <a:ln>
            <a:solidFill>
              <a:srgbClr val="259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知识沉淀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05072" y="4709160"/>
            <a:ext cx="1417320" cy="310896"/>
          </a:xfrm>
          <a:prstGeom prst="roundRect">
            <a:avLst/>
          </a:prstGeom>
          <a:solidFill>
            <a:srgbClr val="F1902A"/>
          </a:solidFill>
          <a:ln>
            <a:solidFill>
              <a:srgbClr val="F19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课后学习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4709160"/>
            <a:ext cx="1783080" cy="310896"/>
          </a:xfrm>
          <a:prstGeom prst="roundRect">
            <a:avLst/>
          </a:prstGeom>
          <a:solidFill>
            <a:srgbClr val="1BA062"/>
          </a:solidFill>
          <a:ln>
            <a:solidFill>
              <a:srgbClr val="1BA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持续扩展能力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011680"/>
            <a:ext cx="2743200" cy="640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感谢评委老师聆听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880360"/>
            <a:ext cx="2560320" cy="640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3400" b="1">
                <a:solidFill>
                  <a:srgbClr val="44B0FF"/>
                </a:solidFill>
                <a:latin typeface="Microsoft YaHei"/>
              </a:rPr>
              <a:t>Q &amp;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023360"/>
            <a:ext cx="3017520" cy="1097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0">
                <a:solidFill>
                  <a:srgbClr val="D6E0EE"/>
                </a:solidFill>
                <a:latin typeface="Microsoft YaHei"/>
              </a:rPr>
              <a:t>提示：答辩前请补齐学校、团队成员、指导老师等信息。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